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Calibri"/>
              </a:rPr>
              <a:t>Vai tro cua GAN trong SQL Injection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097280" y="24231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900">
                <a:solidFill>
                  <a:srgbClr val="DDEBFF"/>
                </a:solidFill>
                <a:latin typeface="Calibri"/>
              </a:rPr>
              <a:t>Tu generator fail gate den augmentation-engine va real-space policy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914400" y="3886200"/>
            <a:ext cx="2926080" cy="82296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</a:rPr>
              <a:t>Da lam
Phase 1-8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4572000" y="3886200"/>
            <a:ext cx="2926080" cy="82296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</a:rPr>
              <a:t>Ket qua
GAN generator fail</a:t>
            </a:r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8229600" y="3886200"/>
            <a:ext cx="2926080" cy="82296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</a:rPr>
              <a:t>Dinh huong
GAN doi vai</a:t>
            </a:r>
            <a:endParaRPr lang="en-US"/>
          </a:p>
        </p:txBody>
      </p:sp>
      <p:cxnSp>
        <p:nvCxnSpPr>
          <p:cNvPr id="8" name="Arrow 8"/>
          <p:cNvCxnSpPr/>
          <p:nvPr/>
        </p:nvCxnSpPr>
        <p:spPr>
          <a:xfrm>
            <a:off x="3840480" y="4297680"/>
            <a:ext cx="731520" cy="1"/>
          </a:xfrm>
          <a:prstGeom prst="straightConnector1">
            <a:avLst/>
          </a:prstGeom>
          <a:ln w="28575">
            <a:solidFill>
              <a:srgbClr val="FFFFFF"/>
            </a:solidFill>
            <a:tailEnd type="none"/>
            <a:headEnd type="triangle"/>
          </a:ln>
        </p:spPr>
      </p:cxnSp>
      <p:cxnSp>
        <p:nvCxnSpPr>
          <p:cNvPr id="9" name="Arrow 9"/>
          <p:cNvCxnSpPr/>
          <p:nvPr/>
        </p:nvCxnSpPr>
        <p:spPr>
          <a:xfrm>
            <a:off x="7498079" y="4297680"/>
            <a:ext cx="731521" cy="1"/>
          </a:xfrm>
          <a:prstGeom prst="straightConnector1">
            <a:avLst/>
          </a:prstGeom>
          <a:ln w="28575">
            <a:solidFill>
              <a:srgbClr val="FFFFFF"/>
            </a:solidFill>
            <a:tailEnd type="none"/>
            <a:headEnd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Thay yeu cau lam ro nhung gi?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Tom tat tu buoi trao doi 13/05/2026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640080" y="12344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Dataset
nguon + schema</a:t>
            </a:r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3474720" y="12344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Nhan
technique + DB</a:t>
            </a:r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6309360" y="12344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Mo hinh
G-D-WAF</a:t>
            </a:r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9144000" y="12344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Reward
dung o dau?</a:t>
            </a:r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640080" y="28346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Collapse
SeqGAN cu</a:t>
            </a:r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3474720" y="28346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So sanh
baseline</a:t>
            </a:r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6309360" y="28346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Firewall/WAF
label/reward/eval</a:t>
            </a:r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9144000" y="2834640"/>
            <a:ext cx="246888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111827"/>
                </a:solidFill>
                <a:latin typeface="Calibri"/>
              </a:rPr>
              <a:t>Tien do
xong/fail/tiep</a:t>
            </a:r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914400" y="480060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50" b="1">
                <a:solidFill>
                  <a:srgbClr val="4A5568"/>
                </a:solidFill>
                <a:latin typeface="Calibri"/>
              </a:rPr>
              <a:t>Muc tieu slide deck: tra loi ro moi quan he giua du lieu - GAN - detector/WAF - reward - huong tiep theo.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Dataset va label pipeline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Tu nhieu nguon ve mot schema co audit</a:t>
            </a:r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457200" y="1554480"/>
            <a:ext cx="210312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Public SQLi
Kaggle / payload lists</a:t>
            </a:r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457200" y="2743200"/>
            <a:ext cx="210312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Benign / user input
negative evidence</a:t>
            </a:r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3383280" y="2057400"/>
            <a:ext cx="210312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Normalize + merge
source tracking</a:t>
            </a:r>
            <a:endParaRPr lang="en-US"/>
          </a:p>
        </p:txBody>
      </p:sp>
      <p:sp>
        <p:nvSpPr>
          <p:cNvPr id="33" name="Shape 33"/>
          <p:cNvSpPr/>
          <p:nvPr/>
        </p:nvSpPr>
        <p:spPr>
          <a:xfrm>
            <a:off x="6309360" y="1143000"/>
            <a:ext cx="2286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Calibri"/>
              </a:rPr>
              <a:t>payload_working</a:t>
            </a:r>
            <a:endParaRPr lang="en-US"/>
          </a:p>
        </p:txBody>
      </p:sp>
      <p:sp>
        <p:nvSpPr>
          <p:cNvPr id="34" name="Shape 34"/>
          <p:cNvSpPr/>
          <p:nvPr/>
        </p:nvSpPr>
        <p:spPr>
          <a:xfrm>
            <a:off x="6309360" y="1965960"/>
            <a:ext cx="2286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Calibri"/>
              </a:rPr>
              <a:t>payload_delex_v5</a:t>
            </a:r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6309360" y="2788920"/>
            <a:ext cx="2286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Calibri"/>
              </a:rPr>
              <a:t>technique_primary</a:t>
            </a:r>
            <a:endParaRPr lang="en-US"/>
          </a:p>
        </p:txBody>
      </p:sp>
      <p:sp>
        <p:nvSpPr>
          <p:cNvPr id="36" name="Shape 36"/>
          <p:cNvSpPr/>
          <p:nvPr/>
        </p:nvSpPr>
        <p:spPr>
          <a:xfrm>
            <a:off x="6309360" y="3611880"/>
            <a:ext cx="2286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Calibri"/>
              </a:rPr>
              <a:t>db_family + confidence</a:t>
            </a:r>
            <a:endParaRPr lang="en-US"/>
          </a:p>
        </p:txBody>
      </p:sp>
      <p:sp>
        <p:nvSpPr>
          <p:cNvPr id="37" name="Shape 37"/>
          <p:cNvSpPr/>
          <p:nvPr/>
        </p:nvSpPr>
        <p:spPr>
          <a:xfrm>
            <a:off x="9326880" y="2240280"/>
            <a:ext cx="2103120" cy="91440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Gold / Silver
review + audit</a:t>
            </a:r>
            <a:endParaRPr lang="en-US"/>
          </a:p>
        </p:txBody>
      </p:sp>
      <p:cxnSp>
        <p:nvCxnSpPr>
          <p:cNvPr id="38" name="Arrow 38"/>
          <p:cNvCxnSpPr/>
          <p:nvPr/>
        </p:nvCxnSpPr>
        <p:spPr>
          <a:xfrm>
            <a:off x="2560320" y="1920240"/>
            <a:ext cx="822960" cy="548640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39" name="Arrow 39"/>
          <p:cNvCxnSpPr/>
          <p:nvPr/>
        </p:nvCxnSpPr>
        <p:spPr>
          <a:xfrm flipV="1">
            <a:off x="2560320" y="2560320"/>
            <a:ext cx="822960" cy="548640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>
            <a:off x="5486400" y="2514600"/>
            <a:ext cx="822960" cy="1"/>
          </a:xfrm>
          <a:prstGeom prst="straightConnector1">
            <a:avLst/>
          </a:prstGeom>
          <a:ln w="28575">
            <a:solidFill>
              <a:srgbClr val="1A9BAA"/>
            </a:solidFill>
            <a:tailEnd type="none"/>
            <a:headEnd type="triangle"/>
          </a:ln>
        </p:spPr>
      </p:cxnSp>
      <p:cxnSp>
        <p:nvCxnSpPr>
          <p:cNvPr id="41" name="Arrow 41"/>
          <p:cNvCxnSpPr/>
          <p:nvPr/>
        </p:nvCxnSpPr>
        <p:spPr>
          <a:xfrm>
            <a:off x="8595360" y="2514600"/>
            <a:ext cx="731520" cy="137160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42" name="Text 42"/>
          <p:cNvSpPr txBox="1"/>
          <p:nvPr/>
        </p:nvSpPr>
        <p:spPr>
          <a:xfrm>
            <a:off x="685800" y="5074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 b="1">
                <a:solidFill>
                  <a:srgbClr val="4A5568"/>
                </a:solidFill>
                <a:latin typeface="Calibri"/>
              </a:rPr>
              <a:t>Diem sua so voi ban cu: label/confidence khong con la cam tinh; co reason, audit va split chong leakage.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Phat hien quan trong: template leakage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Ly do phai danh gia tren cluster split moi</a:t>
            </a:r>
            <a:endParaRPr lang="en-US"/>
          </a:p>
        </p:txBody>
      </p:sp>
      <p:sp>
        <p:nvSpPr>
          <p:cNvPr id="50" name="Shape 50"/>
          <p:cNvSpPr/>
          <p:nvPr/>
        </p:nvSpPr>
        <p:spPr>
          <a:xfrm>
            <a:off x="640080" y="1325880"/>
            <a:ext cx="3108960" cy="91440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</a:rPr>
              <a:t>1.6M rows</a:t>
            </a:r>
            <a:endParaRPr lang="en-US"/>
          </a:p>
        </p:txBody>
      </p:sp>
      <p:sp>
        <p:nvSpPr>
          <p:cNvPr id="51" name="Shape 51"/>
          <p:cNvSpPr/>
          <p:nvPr/>
        </p:nvSpPr>
        <p:spPr>
          <a:xfrm>
            <a:off x="4526280" y="1325880"/>
            <a:ext cx="3108960" cy="91440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</a:rPr>
              <a:t>~77,804 templates</a:t>
            </a:r>
            <a:endParaRPr lang="en-US"/>
          </a:p>
        </p:txBody>
      </p:sp>
      <p:sp>
        <p:nvSpPr>
          <p:cNvPr id="52" name="Shape 52"/>
          <p:cNvSpPr/>
          <p:nvPr/>
        </p:nvSpPr>
        <p:spPr>
          <a:xfrm>
            <a:off x="8412480" y="1325880"/>
            <a:ext cx="3108960" cy="91440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Random split
leaks templates</a:t>
            </a:r>
            <a:endParaRPr lang="en-US"/>
          </a:p>
        </p:txBody>
      </p:sp>
      <p:cxnSp>
        <p:nvCxnSpPr>
          <p:cNvPr id="53" name="Arrow 53"/>
          <p:cNvCxnSpPr/>
          <p:nvPr/>
        </p:nvCxnSpPr>
        <p:spPr>
          <a:xfrm>
            <a:off x="3749039" y="1783080"/>
            <a:ext cx="777241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cxnSp>
        <p:nvCxnSpPr>
          <p:cNvPr id="54" name="Arrow 54"/>
          <p:cNvCxnSpPr/>
          <p:nvPr/>
        </p:nvCxnSpPr>
        <p:spPr>
          <a:xfrm>
            <a:off x="7635240" y="1783080"/>
            <a:ext cx="777240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sp>
        <p:nvSpPr>
          <p:cNvPr id="55" name="Shape 55"/>
          <p:cNvSpPr/>
          <p:nvPr/>
        </p:nvSpPr>
        <p:spPr>
          <a:xfrm>
            <a:off x="1097280" y="2926080"/>
            <a:ext cx="274320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train
1,561,364</a:t>
            </a:r>
            <a:endParaRPr lang="en-US"/>
          </a:p>
        </p:txBody>
      </p:sp>
      <p:sp>
        <p:nvSpPr>
          <p:cNvPr id="56" name="Shape 56"/>
          <p:cNvSpPr/>
          <p:nvPr/>
        </p:nvSpPr>
        <p:spPr>
          <a:xfrm>
            <a:off x="4709160" y="2926080"/>
            <a:ext cx="274320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dev
150,694</a:t>
            </a:r>
            <a:endParaRPr lang="en-US"/>
          </a:p>
        </p:txBody>
      </p:sp>
      <p:sp>
        <p:nvSpPr>
          <p:cNvPr id="57" name="Shape 57"/>
          <p:cNvSpPr/>
          <p:nvPr/>
        </p:nvSpPr>
        <p:spPr>
          <a:xfrm>
            <a:off x="8321040" y="2926080"/>
            <a:ext cx="274320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test
272,315</a:t>
            </a:r>
            <a:endParaRPr lang="en-US"/>
          </a:p>
        </p:txBody>
      </p:sp>
      <p:sp>
        <p:nvSpPr>
          <p:cNvPr id="58" name="Text 58"/>
          <p:cNvSpPr txBox="1"/>
          <p:nvPr/>
        </p:nvSpPr>
        <p:spPr>
          <a:xfrm>
            <a:off x="914400" y="44348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700" b="1">
                <a:solidFill>
                  <a:srgbClr val="2F855A"/>
                </a:solidFill>
                <a:latin typeface="Calibri"/>
              </a:rPr>
              <a:t>Cluster split theo delex-template: train/dev/test template overlap = 0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Vi sao full-sequence GAN fail?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Ket qua am co co che, khong phai chi do tuning</a:t>
            </a:r>
            <a:endParaRPr lang="en-US"/>
          </a:p>
        </p:txBody>
      </p:sp>
      <p:sp>
        <p:nvSpPr>
          <p:cNvPr id="60" name="Shape 60"/>
          <p:cNvSpPr/>
          <p:nvPr/>
        </p:nvSpPr>
        <p:spPr>
          <a:xfrm>
            <a:off x="640080" y="1325880"/>
            <a:ext cx="237744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SeqGAN / REINFORCE</a:t>
            </a:r>
            <a:endParaRPr lang="en-US"/>
          </a:p>
        </p:txBody>
      </p:sp>
      <p:sp>
        <p:nvSpPr>
          <p:cNvPr id="61" name="Shape 61"/>
          <p:cNvSpPr/>
          <p:nvPr/>
        </p:nvSpPr>
        <p:spPr>
          <a:xfrm>
            <a:off x="3657600" y="1325880"/>
            <a:ext cx="237744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D hoc qua nhanh</a:t>
            </a:r>
            <a:endParaRPr lang="en-US"/>
          </a:p>
        </p:txBody>
      </p:sp>
      <p:sp>
        <p:nvSpPr>
          <p:cNvPr id="62" name="Shape 62"/>
          <p:cNvSpPr/>
          <p:nvPr/>
        </p:nvSpPr>
        <p:spPr>
          <a:xfrm>
            <a:off x="6675120" y="1325880"/>
            <a:ext cx="237744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G mat tin hieu</a:t>
            </a:r>
            <a:endParaRPr lang="en-US"/>
          </a:p>
        </p:txBody>
      </p:sp>
      <p:sp>
        <p:nvSpPr>
          <p:cNvPr id="63" name="Shape 63"/>
          <p:cNvSpPr/>
          <p:nvPr/>
        </p:nvSpPr>
        <p:spPr>
          <a:xfrm>
            <a:off x="9418320" y="1325880"/>
            <a:ext cx="2011680" cy="82296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</a:rPr>
              <a:t>Collapse</a:t>
            </a:r>
            <a:endParaRPr lang="en-US"/>
          </a:p>
        </p:txBody>
      </p:sp>
      <p:cxnSp>
        <p:nvCxnSpPr>
          <p:cNvPr id="64" name="Arrow 64"/>
          <p:cNvCxnSpPr/>
          <p:nvPr/>
        </p:nvCxnSpPr>
        <p:spPr>
          <a:xfrm>
            <a:off x="3017520" y="1737360"/>
            <a:ext cx="640080" cy="1"/>
          </a:xfrm>
          <a:prstGeom prst="straightConnector1">
            <a:avLst/>
          </a:prstGeom>
          <a:ln w="28575">
            <a:solidFill>
              <a:srgbClr val="C53030"/>
            </a:solidFill>
            <a:tailEnd type="none"/>
            <a:headEnd type="triangle"/>
          </a:ln>
        </p:spPr>
      </p:cxnSp>
      <p:cxnSp>
        <p:nvCxnSpPr>
          <p:cNvPr id="65" name="Arrow 65"/>
          <p:cNvCxnSpPr/>
          <p:nvPr/>
        </p:nvCxnSpPr>
        <p:spPr>
          <a:xfrm>
            <a:off x="6035040" y="1737360"/>
            <a:ext cx="640080" cy="1"/>
          </a:xfrm>
          <a:prstGeom prst="straightConnector1">
            <a:avLst/>
          </a:prstGeom>
          <a:ln w="28575">
            <a:solidFill>
              <a:srgbClr val="C53030"/>
            </a:solidFill>
            <a:tailEnd type="none"/>
            <a:headEnd type="triangle"/>
          </a:ln>
        </p:spPr>
      </p:cxnSp>
      <p:cxnSp>
        <p:nvCxnSpPr>
          <p:cNvPr id="66" name="Arrow 66"/>
          <p:cNvCxnSpPr/>
          <p:nvPr/>
        </p:nvCxnSpPr>
        <p:spPr>
          <a:xfrm>
            <a:off x="9052560" y="1737360"/>
            <a:ext cx="365760" cy="1"/>
          </a:xfrm>
          <a:prstGeom prst="straightConnector1">
            <a:avLst/>
          </a:prstGeom>
          <a:ln w="28575">
            <a:solidFill>
              <a:srgbClr val="C53030"/>
            </a:solidFill>
            <a:tailEnd type="none"/>
            <a:headEnd type="triangle"/>
          </a:ln>
        </p:spPr>
      </p:cxnSp>
      <p:sp>
        <p:nvSpPr>
          <p:cNvPr id="67" name="Text 67"/>
          <p:cNvSpPr txBox="1"/>
          <p:nvPr/>
        </p:nvSpPr>
        <p:spPr>
          <a:xfrm>
            <a:off x="914400" y="2743200"/>
            <a:ext cx="10332720" cy="2011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>
                <a:solidFill>
                  <a:srgbClr val="111827"/>
                </a:solidFill>
                <a:latin typeface="Calibri"/>
              </a:rPr>
              <a:t>- Discrete token generation lam gradient cho Generator yeu.
- WGAN-GP / SpectralNorm / TTUR / Gumbel khong giai quyet tri de.
- Bai hoc: khong tiep tuc tune full-sequence GAN; doi don vi sinh sang slot/action.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Phase 8: H5' paired masked payload-surgery GAN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Thu nghiem doi don vi sinh tu full payload sang slot/local action</a:t>
            </a:r>
            <a:endParaRPr lang="en-US"/>
          </a:p>
        </p:txBody>
      </p:sp>
      <p:sp>
        <p:nvSpPr>
          <p:cNvPr id="70" name="Shape 70"/>
          <p:cNvSpPr/>
          <p:nvPr/>
        </p:nvSpPr>
        <p:spPr>
          <a:xfrm>
            <a:off x="640080" y="1828800"/>
            <a:ext cx="201168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Delex frame</a:t>
            </a:r>
            <a:endParaRPr lang="en-US"/>
          </a:p>
        </p:txBody>
      </p:sp>
      <p:sp>
        <p:nvSpPr>
          <p:cNvPr id="71" name="Shape 71"/>
          <p:cNvSpPr/>
          <p:nvPr/>
        </p:nvSpPr>
        <p:spPr>
          <a:xfrm>
            <a:off x="3200400" y="1828800"/>
            <a:ext cx="201168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Mask slot /
local token</a:t>
            </a:r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5760720" y="1828800"/>
            <a:ext cx="2011680" cy="77724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</a:rPr>
              <a:t>Generator
H5'</a:t>
            </a:r>
            <a:endParaRPr lang="en-US"/>
          </a:p>
        </p:txBody>
      </p:sp>
      <p:sp>
        <p:nvSpPr>
          <p:cNvPr id="73" name="Shape 73"/>
          <p:cNvSpPr/>
          <p:nvPr/>
        </p:nvSpPr>
        <p:spPr>
          <a:xfrm>
            <a:off x="8321040" y="1143000"/>
            <a:ext cx="2377440" cy="731520"/>
          </a:xfrm>
          <a:prstGeom prst="roundRect">
            <a:avLst/>
          </a:prstGeom>
          <a:solidFill>
            <a:srgbClr val="6B46C1"/>
          </a:solidFill>
          <a:ln w="19050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Paired D
real vs fake</a:t>
            </a:r>
            <a:endParaRPr lang="en-US"/>
          </a:p>
        </p:txBody>
      </p:sp>
      <p:sp>
        <p:nvSpPr>
          <p:cNvPr id="74" name="Shape 74"/>
          <p:cNvSpPr/>
          <p:nvPr/>
        </p:nvSpPr>
        <p:spPr>
          <a:xfrm>
            <a:off x="8321040" y="2743200"/>
            <a:ext cx="2377440" cy="73152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</a:rPr>
              <a:t>Evaluator
valid/novel/evasion</a:t>
            </a:r>
            <a:endParaRPr lang="en-US"/>
          </a:p>
        </p:txBody>
      </p:sp>
      <p:cxnSp>
        <p:nvCxnSpPr>
          <p:cNvPr id="75" name="Arrow 75"/>
          <p:cNvCxnSpPr/>
          <p:nvPr/>
        </p:nvCxnSpPr>
        <p:spPr>
          <a:xfrm>
            <a:off x="2651760" y="2221992"/>
            <a:ext cx="548640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76" name="Arrow 76"/>
          <p:cNvCxnSpPr/>
          <p:nvPr/>
        </p:nvCxnSpPr>
        <p:spPr>
          <a:xfrm>
            <a:off x="5212080" y="2221992"/>
            <a:ext cx="548640" cy="1"/>
          </a:xfrm>
          <a:prstGeom prst="straightConnector1">
            <a:avLst/>
          </a:prstGeom>
          <a:ln w="28575">
            <a:solidFill>
              <a:srgbClr val="1A9BAA"/>
            </a:solidFill>
            <a:tailEnd type="none"/>
            <a:headEnd type="triangle"/>
          </a:ln>
        </p:spPr>
      </p:cxnSp>
      <p:cxnSp>
        <p:nvCxnSpPr>
          <p:cNvPr id="77" name="Arrow 77"/>
          <p:cNvCxnSpPr/>
          <p:nvPr/>
        </p:nvCxnSpPr>
        <p:spPr>
          <a:xfrm flipV="1">
            <a:off x="7772400" y="1508760"/>
            <a:ext cx="548640" cy="713232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cxnSp>
        <p:nvCxnSpPr>
          <p:cNvPr id="78" name="Arrow 78"/>
          <p:cNvCxnSpPr/>
          <p:nvPr/>
        </p:nvCxnSpPr>
        <p:spPr>
          <a:xfrm>
            <a:off x="7772400" y="2221992"/>
            <a:ext cx="548640" cy="886968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79" name="Text 79"/>
          <p:cNvSpPr txBox="1"/>
          <p:nvPr/>
        </p:nvSpPr>
        <p:spPr>
          <a:xfrm>
            <a:off x="868680" y="48006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50" b="1">
                <a:solidFill>
                  <a:srgbClr val="4A5568"/>
                </a:solidFill>
                <a:latin typeface="Calibri"/>
              </a:rPr>
              <a:t>Muc tieu: giam collapse bang cach khong de GAN sinh toan bo chuoi SQLi.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Evaluator contract: tach truc, tranh tu lua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D-score va keyword-only khong duoc dung lam ground truth</a:t>
            </a:r>
            <a:endParaRPr lang="en-US"/>
          </a:p>
        </p:txBody>
      </p:sp>
      <p:sp>
        <p:nvSpPr>
          <p:cNvPr id="80" name="Shape 80"/>
          <p:cNvSpPr/>
          <p:nvPr/>
        </p:nvSpPr>
        <p:spPr>
          <a:xfrm>
            <a:off x="731520" y="1417320"/>
            <a:ext cx="237744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Validity
balanced / parse</a:t>
            </a:r>
            <a:endParaRPr lang="en-US"/>
          </a:p>
        </p:txBody>
      </p:sp>
      <p:sp>
        <p:nvSpPr>
          <p:cNvPr id="81" name="Shape 81"/>
          <p:cNvSpPr/>
          <p:nvPr/>
        </p:nvSpPr>
        <p:spPr>
          <a:xfrm>
            <a:off x="3566160" y="1417320"/>
            <a:ext cx="237744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Novelty
train dup / batch dup</a:t>
            </a:r>
            <a:endParaRPr lang="en-US"/>
          </a:p>
        </p:txBody>
      </p:sp>
      <p:sp>
        <p:nvSpPr>
          <p:cNvPr id="82" name="Shape 82"/>
          <p:cNvSpPr/>
          <p:nvPr/>
        </p:nvSpPr>
        <p:spPr>
          <a:xfrm>
            <a:off x="6400800" y="1417320"/>
            <a:ext cx="237744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Conditioning
hint debug only</a:t>
            </a:r>
            <a:endParaRPr lang="en-US"/>
          </a:p>
        </p:txBody>
      </p:sp>
      <p:sp>
        <p:nvSpPr>
          <p:cNvPr id="83" name="Shape 83"/>
          <p:cNvSpPr/>
          <p:nvPr/>
        </p:nvSpPr>
        <p:spPr>
          <a:xfrm>
            <a:off x="9235440" y="1417320"/>
            <a:ext cx="210312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Evasion
only with oracle</a:t>
            </a:r>
            <a:endParaRPr lang="en-US"/>
          </a:p>
        </p:txBody>
      </p:sp>
      <p:sp>
        <p:nvSpPr>
          <p:cNvPr id="84" name="Text 84"/>
          <p:cNvSpPr txBox="1"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50" b="1">
                <a:solidFill>
                  <a:srgbClr val="111827"/>
                </a:solidFill>
                <a:latin typeface="Calibri"/>
              </a:rPr>
              <a:t>Quy tac: mau chi dung cho main claim khi validity, novelty va evasion deu do duoc. Technique hint chi la debug.</a:t>
            </a:r>
            <a:endParaRPr lang="en-US"/>
          </a:p>
        </p:txBody>
      </p:sp>
      <p:sp>
        <p:nvSpPr>
          <p:cNvPr id="85" name="Text 85"/>
          <p:cNvSpPr txBox="1"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>
                <a:solidFill>
                  <a:srgbClr val="4A5568"/>
                </a:solidFill>
                <a:latin typeface="Calibri"/>
              </a:rPr>
              <a:t>Dung evaluator nay de ket luan am mot cach cong bang.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Ket qua: H5' generator fail pre-registered gate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Classifier-oracle bypass: adversarial contribution gan bang 0</a:t>
            </a:r>
            <a:endParaRPr lang="en-US"/>
          </a:p>
        </p:txBody>
      </p:sp>
      <p:sp>
        <p:nvSpPr>
          <p:cNvPr id="90" name="Shape 90"/>
          <p:cNvSpPr/>
          <p:nvPr/>
        </p:nvSpPr>
        <p:spPr>
          <a:xfrm>
            <a:off x="1280160" y="1325880"/>
            <a:ext cx="3840480" cy="50292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Method</a:t>
            </a:r>
            <a:endParaRPr lang="en-US"/>
          </a:p>
        </p:txBody>
      </p:sp>
      <p:sp>
        <p:nvSpPr>
          <p:cNvPr id="91" name="Shape 91"/>
          <p:cNvSpPr/>
          <p:nvPr/>
        </p:nvSpPr>
        <p:spPr>
          <a:xfrm>
            <a:off x="5120640" y="1325880"/>
            <a:ext cx="3657600" cy="50292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Role</a:t>
            </a:r>
            <a:endParaRPr lang="en-US"/>
          </a:p>
        </p:txBody>
      </p:sp>
      <p:sp>
        <p:nvSpPr>
          <p:cNvPr id="92" name="Shape 92"/>
          <p:cNvSpPr/>
          <p:nvPr/>
        </p:nvSpPr>
        <p:spPr>
          <a:xfrm>
            <a:off x="8778240" y="1325880"/>
            <a:ext cx="1828800" cy="50292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Bypass</a:t>
            </a:r>
            <a:endParaRPr lang="en-US"/>
          </a:p>
        </p:txBody>
      </p:sp>
      <p:sp>
        <p:nvSpPr>
          <p:cNvPr id="93" name="Shape 93"/>
          <p:cNvSpPr/>
          <p:nvPr/>
        </p:nvSpPr>
        <p:spPr>
          <a:xfrm>
            <a:off x="1280160" y="1828800"/>
            <a:ext cx="38404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Anchor-only</a:t>
            </a:r>
            <a:endParaRPr lang="en-US"/>
          </a:p>
        </p:txBody>
      </p:sp>
      <p:sp>
        <p:nvSpPr>
          <p:cNvPr id="94" name="Shape 94"/>
          <p:cNvSpPr/>
          <p:nvPr/>
        </p:nvSpPr>
        <p:spPr>
          <a:xfrm>
            <a:off x="5120640" y="1828800"/>
            <a:ext cx="3657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No GAN / supervised</a:t>
            </a:r>
            <a:endParaRPr lang="en-US"/>
          </a:p>
        </p:txBody>
      </p:sp>
      <p:sp>
        <p:nvSpPr>
          <p:cNvPr id="95" name="Shape 95"/>
          <p:cNvSpPr/>
          <p:nvPr/>
        </p:nvSpPr>
        <p:spPr>
          <a:xfrm>
            <a:off x="8778240" y="1828800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0.0050</a:t>
            </a:r>
            <a:endParaRPr lang="en-US"/>
          </a:p>
        </p:txBody>
      </p:sp>
      <p:sp>
        <p:nvSpPr>
          <p:cNvPr id="96" name="Shape 96"/>
          <p:cNvSpPr/>
          <p:nvPr/>
        </p:nvSpPr>
        <p:spPr>
          <a:xfrm>
            <a:off x="1280160" y="2331720"/>
            <a:ext cx="384048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Mutation-engine</a:t>
            </a:r>
            <a:endParaRPr lang="en-US"/>
          </a:p>
        </p:txBody>
      </p:sp>
      <p:sp>
        <p:nvSpPr>
          <p:cNvPr id="97" name="Shape 97"/>
          <p:cNvSpPr/>
          <p:nvPr/>
        </p:nvSpPr>
        <p:spPr>
          <a:xfrm>
            <a:off x="5120640" y="2331720"/>
            <a:ext cx="365760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No learning</a:t>
            </a:r>
            <a:endParaRPr lang="en-US"/>
          </a:p>
        </p:txBody>
      </p:sp>
      <p:sp>
        <p:nvSpPr>
          <p:cNvPr id="98" name="Shape 98"/>
          <p:cNvSpPr/>
          <p:nvPr/>
        </p:nvSpPr>
        <p:spPr>
          <a:xfrm>
            <a:off x="8778240" y="2331720"/>
            <a:ext cx="182880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0.0000</a:t>
            </a:r>
            <a:endParaRPr lang="en-US"/>
          </a:p>
        </p:txBody>
      </p:sp>
      <p:sp>
        <p:nvSpPr>
          <p:cNvPr id="99" name="Shape 99"/>
          <p:cNvSpPr/>
          <p:nvPr/>
        </p:nvSpPr>
        <p:spPr>
          <a:xfrm>
            <a:off x="1280160" y="2834640"/>
            <a:ext cx="38404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H5' max-local</a:t>
            </a:r>
            <a:endParaRPr lang="en-US"/>
          </a:p>
        </p:txBody>
      </p:sp>
      <p:sp>
        <p:nvSpPr>
          <p:cNvPr id="100" name="Shape 100"/>
          <p:cNvSpPr/>
          <p:nvPr/>
        </p:nvSpPr>
        <p:spPr>
          <a:xfrm>
            <a:off x="5120640" y="2834640"/>
            <a:ext cx="3657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GAN generator</a:t>
            </a:r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8778240" y="2834640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0.0000</a:t>
            </a:r>
            <a:endParaRPr lang="en-US"/>
          </a:p>
        </p:txBody>
      </p:sp>
      <p:sp>
        <p:nvSpPr>
          <p:cNvPr id="102" name="Shape 102"/>
          <p:cNvSpPr/>
          <p:nvPr/>
        </p:nvSpPr>
        <p:spPr>
          <a:xfrm>
            <a:off x="1280160" y="3337560"/>
            <a:ext cx="384048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H5' max-aggressive</a:t>
            </a:r>
            <a:endParaRPr lang="en-US"/>
          </a:p>
        </p:txBody>
      </p:sp>
      <p:sp>
        <p:nvSpPr>
          <p:cNvPr id="103" name="Shape 103"/>
          <p:cNvSpPr/>
          <p:nvPr/>
        </p:nvSpPr>
        <p:spPr>
          <a:xfrm>
            <a:off x="5120640" y="3337560"/>
            <a:ext cx="365760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GAN generator</a:t>
            </a:r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8778240" y="3337560"/>
            <a:ext cx="182880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0.0050</a:t>
            </a:r>
            <a:endParaRPr lang="en-US"/>
          </a:p>
        </p:txBody>
      </p:sp>
      <p:sp>
        <p:nvSpPr>
          <p:cNvPr id="105" name="Shape 105"/>
          <p:cNvSpPr/>
          <p:nvPr/>
        </p:nvSpPr>
        <p:spPr>
          <a:xfrm>
            <a:off x="1280160" y="3840480"/>
            <a:ext cx="38404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Oracle-aware search</a:t>
            </a:r>
            <a:endParaRPr lang="en-US"/>
          </a:p>
        </p:txBody>
      </p:sp>
      <p:sp>
        <p:nvSpPr>
          <p:cNvPr id="106" name="Shape 106"/>
          <p:cNvSpPr/>
          <p:nvPr/>
        </p:nvSpPr>
        <p:spPr>
          <a:xfrm>
            <a:off x="5120640" y="3840480"/>
            <a:ext cx="3657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Post-processing</a:t>
            </a:r>
            <a:endParaRPr lang="en-US"/>
          </a:p>
        </p:txBody>
      </p:sp>
      <p:sp>
        <p:nvSpPr>
          <p:cNvPr id="107" name="Shape 107"/>
          <p:cNvSpPr/>
          <p:nvPr/>
        </p:nvSpPr>
        <p:spPr>
          <a:xfrm>
            <a:off x="8778240" y="3840480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0.0050</a:t>
            </a:r>
            <a:endParaRPr lang="en-US"/>
          </a:p>
        </p:txBody>
      </p:sp>
      <p:sp>
        <p:nvSpPr>
          <p:cNvPr id="110" name="Shape 110"/>
          <p:cNvSpPr/>
          <p:nvPr/>
        </p:nvSpPr>
        <p:spPr>
          <a:xfrm>
            <a:off x="1645920" y="4892040"/>
            <a:ext cx="8778240" cy="59436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Calibri"/>
              </a:rPr>
              <a:t>Ket luan: GAN-as-payload-generator khong vuot anchor-only/mutation-engine.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Tai sao delex-space khong do duoc evasion that?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Classifier oracle qua de tach SQLi/benign trong representation da chuan hoa</a:t>
            </a:r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731520" y="1325880"/>
            <a:ext cx="3108960" cy="91440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Delex oracle
AUC ~ 1.0</a:t>
            </a:r>
            <a:endParaRPr lang="en-US"/>
          </a:p>
        </p:txBody>
      </p:sp>
      <p:sp>
        <p:nvSpPr>
          <p:cNvPr id="121" name="Shape 121"/>
          <p:cNvSpPr/>
          <p:nvPr/>
        </p:nvSpPr>
        <p:spPr>
          <a:xfrm>
            <a:off x="4572000" y="1325880"/>
            <a:ext cx="3108960" cy="91440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Calibri"/>
              </a:rPr>
              <a:t>Surface evasion
bi xoa/normalize</a:t>
            </a:r>
            <a:endParaRPr lang="en-US"/>
          </a:p>
        </p:txBody>
      </p:sp>
      <p:sp>
        <p:nvSpPr>
          <p:cNvPr id="122" name="Shape 122"/>
          <p:cNvSpPr/>
          <p:nvPr/>
        </p:nvSpPr>
        <p:spPr>
          <a:xfrm>
            <a:off x="8321040" y="1325880"/>
            <a:ext cx="3108960" cy="91440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Calibri"/>
              </a:rPr>
              <a:t>Can real-space
rehydrate + WAF</a:t>
            </a:r>
            <a:endParaRPr lang="en-US"/>
          </a:p>
        </p:txBody>
      </p:sp>
      <p:cxnSp>
        <p:nvCxnSpPr>
          <p:cNvPr id="123" name="Arrow 123"/>
          <p:cNvCxnSpPr/>
          <p:nvPr/>
        </p:nvCxnSpPr>
        <p:spPr>
          <a:xfrm>
            <a:off x="3840480" y="1783080"/>
            <a:ext cx="731520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cxnSp>
        <p:nvCxnSpPr>
          <p:cNvPr id="124" name="Arrow 124"/>
          <p:cNvCxnSpPr/>
          <p:nvPr/>
        </p:nvCxnSpPr>
        <p:spPr>
          <a:xfrm>
            <a:off x="7680960" y="1783080"/>
            <a:ext cx="640080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sp>
        <p:nvSpPr>
          <p:cNvPr id="125" name="Text 125"/>
          <p:cNvSpPr txBox="1"/>
          <p:nvPr/>
        </p:nvSpPr>
        <p:spPr>
          <a:xfrm>
            <a:off x="1097280" y="297180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>
                <a:solidFill>
                  <a:srgbClr val="111827"/>
                </a:solidFill>
                <a:latin typeface="Calibri"/>
              </a:rPr>
              <a:t>- Delex tot cho generation/conditioning, nhung xoa casing, comment, encoding, literal.
- Evasion la hien tuong be mat; phai do sau rehydrate tren WAF/detector real-space.
- AUC=1.0 la ly do doi khong gian do, khong phai ly do bo GAN.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Pivot: GAN van trung tam, nhung doi vai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Khong tiep tuc cuu vai generator da fail gate</a:t>
            </a:r>
            <a:endParaRPr lang="en-US"/>
          </a:p>
        </p:txBody>
      </p:sp>
      <p:sp>
        <p:nvSpPr>
          <p:cNvPr id="130" name="Shape 130"/>
          <p:cNvSpPr/>
          <p:nvPr/>
        </p:nvSpPr>
        <p:spPr>
          <a:xfrm>
            <a:off x="640080" y="1417320"/>
            <a:ext cx="3017520" cy="1325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GAN-as-generator
Da test
Fail gate
Ha xuong ablation</a:t>
            </a:r>
            <a:endParaRPr lang="en-US"/>
          </a:p>
        </p:txBody>
      </p:sp>
      <p:sp>
        <p:nvSpPr>
          <p:cNvPr id="131" name="Shape 131"/>
          <p:cNvSpPr/>
          <p:nvPr/>
        </p:nvSpPr>
        <p:spPr>
          <a:xfrm>
            <a:off x="4572000" y="1417320"/>
            <a:ext cx="3017520" cy="1325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GAN-as-augmentation
Phong thu
Robust detector
Huong chinh</a:t>
            </a:r>
            <a:endParaRPr lang="en-US"/>
          </a:p>
        </p:txBody>
      </p:sp>
      <p:sp>
        <p:nvSpPr>
          <p:cNvPr id="132" name="Shape 132"/>
          <p:cNvSpPr/>
          <p:nvPr/>
        </p:nvSpPr>
        <p:spPr>
          <a:xfrm>
            <a:off x="8229600" y="1417320"/>
            <a:ext cx="3017520" cy="1325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GAN-as-policy
Real-space
WAF reward
Vertical slice</a:t>
            </a:r>
            <a:endParaRPr lang="en-US"/>
          </a:p>
        </p:txBody>
      </p:sp>
      <p:sp>
        <p:nvSpPr>
          <p:cNvPr id="133" name="Text 133"/>
          <p:cNvSpPr txBox="1"/>
          <p:nvPr/>
        </p:nvSpPr>
        <p:spPr>
          <a:xfrm>
            <a:off x="914400" y="434340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50" b="1">
                <a:solidFill>
                  <a:srgbClr val="4A5568"/>
                </a:solidFill>
                <a:latin typeface="Calibri"/>
              </a:rPr>
              <a:t>Thong diep voi thay: GAN khong bi bo; em doi vai GAN sang noi co headroom that hon.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Huong 1: GAN-as-augmentation-engine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Pivot phong thu: GAN sinh du lieu de train detector robust hon</a:t>
            </a:r>
            <a:endParaRPr lang="en-US"/>
          </a:p>
        </p:txBody>
      </p:sp>
      <p:sp>
        <p:nvSpPr>
          <p:cNvPr id="140" name="Shape 140"/>
          <p:cNvSpPr/>
          <p:nvPr/>
        </p:nvSpPr>
        <p:spPr>
          <a:xfrm>
            <a:off x="640080" y="1828800"/>
            <a:ext cx="2194560" cy="7315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Train goc</a:t>
            </a:r>
            <a:endParaRPr lang="en-US"/>
          </a:p>
        </p:txBody>
      </p:sp>
      <p:sp>
        <p:nvSpPr>
          <p:cNvPr id="141" name="Shape 141"/>
          <p:cNvSpPr/>
          <p:nvPr/>
        </p:nvSpPr>
        <p:spPr>
          <a:xfrm>
            <a:off x="3383280" y="1143000"/>
            <a:ext cx="2286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Calibri"/>
              </a:rPr>
              <a:t>Detector D0
no aug</a:t>
            </a:r>
            <a:endParaRPr lang="en-US"/>
          </a:p>
        </p:txBody>
      </p:sp>
      <p:sp>
        <p:nvSpPr>
          <p:cNvPr id="142" name="Shape 142"/>
          <p:cNvSpPr/>
          <p:nvPr/>
        </p:nvSpPr>
        <p:spPr>
          <a:xfrm>
            <a:off x="3383280" y="2057400"/>
            <a:ext cx="2286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Calibri"/>
              </a:rPr>
              <a:t>Detector D1
mutation aug</a:t>
            </a:r>
            <a:endParaRPr lang="en-US"/>
          </a:p>
        </p:txBody>
      </p:sp>
      <p:sp>
        <p:nvSpPr>
          <p:cNvPr id="143" name="Shape 143"/>
          <p:cNvSpPr/>
          <p:nvPr/>
        </p:nvSpPr>
        <p:spPr>
          <a:xfrm>
            <a:off x="3383280" y="2971800"/>
            <a:ext cx="2286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Calibri"/>
              </a:rPr>
              <a:t>Detector D2
GAN aug</a:t>
            </a:r>
            <a:endParaRPr lang="en-US"/>
          </a:p>
        </p:txBody>
      </p:sp>
      <p:sp>
        <p:nvSpPr>
          <p:cNvPr id="144" name="Shape 144"/>
          <p:cNvSpPr/>
          <p:nvPr/>
        </p:nvSpPr>
        <p:spPr>
          <a:xfrm>
            <a:off x="6400800" y="2057400"/>
            <a:ext cx="2286000" cy="8229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Held-out +
adversarial test</a:t>
            </a:r>
            <a:endParaRPr lang="en-US"/>
          </a:p>
        </p:txBody>
      </p:sp>
      <p:sp>
        <p:nvSpPr>
          <p:cNvPr id="145" name="Shape 145"/>
          <p:cNvSpPr/>
          <p:nvPr/>
        </p:nvSpPr>
        <p:spPr>
          <a:xfrm>
            <a:off x="9326880" y="2057400"/>
            <a:ext cx="2103120" cy="82296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Robustness
Delta</a:t>
            </a:r>
            <a:endParaRPr lang="en-US"/>
          </a:p>
        </p:txBody>
      </p:sp>
      <p:cxnSp>
        <p:nvCxnSpPr>
          <p:cNvPr id="146" name="Arrow 146"/>
          <p:cNvCxnSpPr/>
          <p:nvPr/>
        </p:nvCxnSpPr>
        <p:spPr>
          <a:xfrm flipV="1">
            <a:off x="2834640" y="1463040"/>
            <a:ext cx="548640" cy="731520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147" name="Arrow 147"/>
          <p:cNvCxnSpPr/>
          <p:nvPr/>
        </p:nvCxnSpPr>
        <p:spPr>
          <a:xfrm>
            <a:off x="2834640" y="2194560"/>
            <a:ext cx="548640" cy="182880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148" name="Arrow 148"/>
          <p:cNvCxnSpPr/>
          <p:nvPr/>
        </p:nvCxnSpPr>
        <p:spPr>
          <a:xfrm>
            <a:off x="2834640" y="2194560"/>
            <a:ext cx="548640" cy="1097280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149" name="Arrow 149"/>
          <p:cNvCxnSpPr/>
          <p:nvPr/>
        </p:nvCxnSpPr>
        <p:spPr>
          <a:xfrm>
            <a:off x="5669280" y="2377440"/>
            <a:ext cx="731520" cy="91440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>
        <p:nvCxnSpPr>
          <p:cNvPr id="150" name="Arrow 150"/>
          <p:cNvCxnSpPr/>
          <p:nvPr/>
        </p:nvCxnSpPr>
        <p:spPr>
          <a:xfrm>
            <a:off x="8686800" y="2468880"/>
            <a:ext cx="640080" cy="1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51" name="Text 151"/>
          <p:cNvSpPr txBox="1"/>
          <p:nvPr/>
        </p:nvSpPr>
        <p:spPr>
          <a:xfrm>
            <a:off x="822960" y="47091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4A5568"/>
                </a:solidFill>
                <a:latin typeface="Calibri"/>
              </a:rPr>
              <a:t>Cau hoi khoa hoc: GAN samples co giup detector tong quat hoa hon mutation-only khong?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Huong 2: GAN-as-policy trong real-space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Tra loi truc tiep cau hoi: WAF reward dung o dau?</a:t>
            </a:r>
            <a:endParaRPr lang="en-US"/>
          </a:p>
        </p:txBody>
      </p:sp>
      <p:sp>
        <p:nvSpPr>
          <p:cNvPr id="160" name="Shape 160"/>
          <p:cNvSpPr/>
          <p:nvPr/>
        </p:nvSpPr>
        <p:spPr>
          <a:xfrm>
            <a:off x="548640" y="1828800"/>
            <a:ext cx="1920240" cy="7315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Rehydrated
payload</a:t>
            </a:r>
            <a:endParaRPr lang="en-US"/>
          </a:p>
        </p:txBody>
      </p:sp>
      <p:sp>
        <p:nvSpPr>
          <p:cNvPr id="161" name="Shape 161"/>
          <p:cNvSpPr/>
          <p:nvPr/>
        </p:nvSpPr>
        <p:spPr>
          <a:xfrm>
            <a:off x="2926080" y="1828800"/>
            <a:ext cx="1920240" cy="73152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Policy G
chon action</a:t>
            </a:r>
            <a:endParaRPr lang="en-US"/>
          </a:p>
        </p:txBody>
      </p:sp>
      <p:sp>
        <p:nvSpPr>
          <p:cNvPr id="162" name="Shape 162"/>
          <p:cNvSpPr/>
          <p:nvPr/>
        </p:nvSpPr>
        <p:spPr>
          <a:xfrm>
            <a:off x="5303520" y="1828800"/>
            <a:ext cx="1920240" cy="7315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Apply
mutation</a:t>
            </a:r>
            <a:endParaRPr lang="en-US"/>
          </a:p>
        </p:txBody>
      </p:sp>
      <p:sp>
        <p:nvSpPr>
          <p:cNvPr id="163" name="Shape 163"/>
          <p:cNvSpPr/>
          <p:nvPr/>
        </p:nvSpPr>
        <p:spPr>
          <a:xfrm>
            <a:off x="7680960" y="1828800"/>
            <a:ext cx="1920240" cy="73152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WAF / DB
oracle</a:t>
            </a:r>
            <a:endParaRPr lang="en-US"/>
          </a:p>
        </p:txBody>
      </p:sp>
      <p:sp>
        <p:nvSpPr>
          <p:cNvPr id="164" name="Shape 164"/>
          <p:cNvSpPr/>
          <p:nvPr/>
        </p:nvSpPr>
        <p:spPr>
          <a:xfrm>
            <a:off x="9966960" y="1828800"/>
            <a:ext cx="1645920" cy="73152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Reward</a:t>
            </a:r>
            <a:endParaRPr lang="en-US"/>
          </a:p>
        </p:txBody>
      </p:sp>
      <p:cxnSp>
        <p:nvCxnSpPr>
          <p:cNvPr id="165" name="Arrow 165"/>
          <p:cNvCxnSpPr/>
          <p:nvPr/>
        </p:nvCxnSpPr>
        <p:spPr>
          <a:xfrm>
            <a:off x="2468880" y="2194560"/>
            <a:ext cx="457200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166" name="Arrow 166"/>
          <p:cNvCxnSpPr/>
          <p:nvPr/>
        </p:nvCxnSpPr>
        <p:spPr>
          <a:xfrm>
            <a:off x="4846320" y="2194560"/>
            <a:ext cx="457200" cy="1"/>
          </a:xfrm>
          <a:prstGeom prst="straightConnector1">
            <a:avLst/>
          </a:prstGeom>
          <a:ln w="28575">
            <a:solidFill>
              <a:srgbClr val="1A9BAA"/>
            </a:solidFill>
            <a:tailEnd type="none"/>
            <a:headEnd type="triangle"/>
          </a:ln>
        </p:spPr>
      </p:cxnSp>
      <p:cxnSp>
        <p:nvCxnSpPr>
          <p:cNvPr id="167" name="Arrow 167"/>
          <p:cNvCxnSpPr/>
          <p:nvPr/>
        </p:nvCxnSpPr>
        <p:spPr>
          <a:xfrm>
            <a:off x="7223760" y="2194560"/>
            <a:ext cx="457200" cy="1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>
        <p:nvCxnSpPr>
          <p:cNvPr id="168" name="Arrow 168"/>
          <p:cNvCxnSpPr/>
          <p:nvPr/>
        </p:nvCxnSpPr>
        <p:spPr>
          <a:xfrm>
            <a:off x="9601200" y="2194560"/>
            <a:ext cx="365760" cy="1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69" name="Arrow 169"/>
          <p:cNvCxnSpPr/>
          <p:nvPr/>
        </p:nvCxnSpPr>
        <p:spPr>
          <a:xfrm flipH="1">
            <a:off x="3886200" y="2743200"/>
            <a:ext cx="6903720" cy="1417320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70" name="Shape 170"/>
          <p:cNvSpPr/>
          <p:nvPr/>
        </p:nvSpPr>
        <p:spPr>
          <a:xfrm>
            <a:off x="2926080" y="3886200"/>
            <a:ext cx="201168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Update/rerank
Policy G</a:t>
            </a:r>
            <a:endParaRPr lang="en-US"/>
          </a:p>
        </p:txBody>
      </p:sp>
      <p:sp>
        <p:nvSpPr>
          <p:cNvPr id="171" name="Text 171"/>
          <p:cNvSpPr txBox="1"/>
          <p:nvPr/>
        </p:nvSpPr>
        <p:spPr>
          <a:xfrm>
            <a:off x="868680" y="50749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 b="1">
                <a:solidFill>
                  <a:srgbClr val="4A5568"/>
                </a:solidFill>
                <a:latin typeface="Calibri"/>
              </a:rPr>
              <a:t>Reward cao = valid + intent preserved + not detected; reward am = invalid/broken.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Kien truc tong the moi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Lam ro moi quan he G - D - WAF - reward</a:t>
            </a:r>
            <a:endParaRPr lang="en-US"/>
          </a:p>
        </p:txBody>
      </p:sp>
      <p:sp>
        <p:nvSpPr>
          <p:cNvPr id="180" name="Shape 180"/>
          <p:cNvSpPr/>
          <p:nvPr/>
        </p:nvSpPr>
        <p:spPr>
          <a:xfrm>
            <a:off x="640080" y="1234440"/>
            <a:ext cx="237744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Real / Delex
Data</a:t>
            </a:r>
            <a:endParaRPr lang="en-US"/>
          </a:p>
        </p:txBody>
      </p:sp>
      <p:sp>
        <p:nvSpPr>
          <p:cNvPr id="181" name="Shape 181"/>
          <p:cNvSpPr/>
          <p:nvPr/>
        </p:nvSpPr>
        <p:spPr>
          <a:xfrm>
            <a:off x="3657600" y="1005840"/>
            <a:ext cx="2377440" cy="77724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Generator
Policy / Aug</a:t>
            </a:r>
            <a:endParaRPr lang="en-US"/>
          </a:p>
        </p:txBody>
      </p:sp>
      <p:sp>
        <p:nvSpPr>
          <p:cNvPr id="182" name="Shape 182"/>
          <p:cNvSpPr/>
          <p:nvPr/>
        </p:nvSpPr>
        <p:spPr>
          <a:xfrm>
            <a:off x="6675120" y="1005840"/>
            <a:ext cx="2377440" cy="77724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</a:rPr>
              <a:t>WAF / Oracle
Validity gate</a:t>
            </a:r>
            <a:endParaRPr lang="en-US"/>
          </a:p>
        </p:txBody>
      </p:sp>
      <p:sp>
        <p:nvSpPr>
          <p:cNvPr id="183" name="Shape 183"/>
          <p:cNvSpPr/>
          <p:nvPr/>
        </p:nvSpPr>
        <p:spPr>
          <a:xfrm>
            <a:off x="9326880" y="1005840"/>
            <a:ext cx="2103120" cy="77724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Reward
Score</a:t>
            </a:r>
            <a:endParaRPr lang="en-US"/>
          </a:p>
        </p:txBody>
      </p:sp>
      <p:sp>
        <p:nvSpPr>
          <p:cNvPr id="184" name="Shape 184"/>
          <p:cNvSpPr/>
          <p:nvPr/>
        </p:nvSpPr>
        <p:spPr>
          <a:xfrm>
            <a:off x="3657600" y="2926080"/>
            <a:ext cx="237744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Augmented
Training Set</a:t>
            </a:r>
            <a:endParaRPr lang="en-US"/>
          </a:p>
        </p:txBody>
      </p:sp>
      <p:sp>
        <p:nvSpPr>
          <p:cNvPr id="185" name="Shape 185"/>
          <p:cNvSpPr/>
          <p:nvPr/>
        </p:nvSpPr>
        <p:spPr>
          <a:xfrm>
            <a:off x="6675120" y="2926080"/>
            <a:ext cx="2377440" cy="777240"/>
          </a:xfrm>
          <a:prstGeom prst="roundRect">
            <a:avLst/>
          </a:prstGeom>
          <a:solidFill>
            <a:srgbClr val="6B46C1"/>
          </a:solidFill>
          <a:ln w="19050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Detector D
Phong thu</a:t>
            </a:r>
            <a:endParaRPr lang="en-US"/>
          </a:p>
        </p:txBody>
      </p:sp>
      <p:cxnSp>
        <p:nvCxnSpPr>
          <p:cNvPr id="186" name="Arrow 186"/>
          <p:cNvCxnSpPr/>
          <p:nvPr/>
        </p:nvCxnSpPr>
        <p:spPr>
          <a:xfrm flipV="1">
            <a:off x="3017520" y="1389888"/>
            <a:ext cx="640080" cy="210312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187" name="Arrow 187"/>
          <p:cNvCxnSpPr/>
          <p:nvPr/>
        </p:nvCxnSpPr>
        <p:spPr>
          <a:xfrm>
            <a:off x="6035040" y="1389888"/>
            <a:ext cx="640080" cy="1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>
        <p:nvCxnSpPr>
          <p:cNvPr id="188" name="Arrow 188"/>
          <p:cNvCxnSpPr/>
          <p:nvPr/>
        </p:nvCxnSpPr>
        <p:spPr>
          <a:xfrm>
            <a:off x="9052560" y="1389888"/>
            <a:ext cx="274320" cy="1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89" name="Arrow 189"/>
          <p:cNvCxnSpPr/>
          <p:nvPr/>
        </p:nvCxnSpPr>
        <p:spPr>
          <a:xfrm>
            <a:off x="4846320" y="1828800"/>
            <a:ext cx="1" cy="1097280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90" name="Arrow 190"/>
          <p:cNvCxnSpPr/>
          <p:nvPr/>
        </p:nvCxnSpPr>
        <p:spPr>
          <a:xfrm>
            <a:off x="6035040" y="3310128"/>
            <a:ext cx="640080" cy="1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cxnSp>
        <p:nvCxnSpPr>
          <p:cNvPr id="191" name="Arrow 191"/>
          <p:cNvCxnSpPr/>
          <p:nvPr/>
        </p:nvCxnSpPr>
        <p:spPr>
          <a:xfrm flipH="1">
            <a:off x="4846320" y="1828800"/>
            <a:ext cx="5394960" cy="2331720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92" name="Text 192"/>
          <p:cNvSpPr txBox="1"/>
          <p:nvPr/>
        </p:nvSpPr>
        <p:spPr>
          <a:xfrm>
            <a:off x="914400" y="498348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 b="1">
                <a:solidFill>
                  <a:srgbClr val="4A5568"/>
                </a:solidFill>
                <a:latin typeface="Calibri"/>
              </a:rPr>
              <a:t>Hai cach dung reward: rerank/select mau kho, hoac update policy trong real-space.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Ke hoach thuc nghiem tiep theo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Quyet dinh pivot bang du lieu, khong bang nhu cau de tai</a:t>
            </a:r>
            <a:endParaRPr lang="en-US"/>
          </a:p>
        </p:txBody>
      </p:sp>
      <p:sp>
        <p:nvSpPr>
          <p:cNvPr id="200" name="Shape 200"/>
          <p:cNvSpPr/>
          <p:nvPr/>
        </p:nvSpPr>
        <p:spPr>
          <a:xfrm>
            <a:off x="685800" y="1234440"/>
            <a:ext cx="914400" cy="566928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Buoc</a:t>
            </a:r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1600200" y="1234440"/>
            <a:ext cx="5852160" cy="566928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Viec can lam</a:t>
            </a:r>
            <a:endParaRPr lang="en-US"/>
          </a:p>
        </p:txBody>
      </p:sp>
      <p:sp>
        <p:nvSpPr>
          <p:cNvPr id="202" name="Shape 202"/>
          <p:cNvSpPr/>
          <p:nvPr/>
        </p:nvSpPr>
        <p:spPr>
          <a:xfrm>
            <a:off x="7452360" y="1234440"/>
            <a:ext cx="4206240" cy="566928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Ket qua can co</a:t>
            </a:r>
            <a:endParaRPr lang="en-US"/>
          </a:p>
        </p:txBody>
      </p:sp>
      <p:sp>
        <p:nvSpPr>
          <p:cNvPr id="203" name="Shape 203"/>
          <p:cNvSpPr/>
          <p:nvPr/>
        </p:nvSpPr>
        <p:spPr>
          <a:xfrm>
            <a:off x="685800" y="1801368"/>
            <a:ext cx="9144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1</a:t>
            </a:r>
            <a:endParaRPr lang="en-US"/>
          </a:p>
        </p:txBody>
      </p:sp>
      <p:sp>
        <p:nvSpPr>
          <p:cNvPr id="204" name="Shape 204"/>
          <p:cNvSpPr/>
          <p:nvPr/>
        </p:nvSpPr>
        <p:spPr>
          <a:xfrm>
            <a:off x="1600200" y="1801368"/>
            <a:ext cx="58521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Diversity/coverage: GAN vs mutation @ fixed validity</a:t>
            </a:r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7452360" y="1801368"/>
            <a:ext cx="42062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Biet generator con gia tri ton du khong</a:t>
            </a:r>
            <a:endParaRPr lang="en-US"/>
          </a:p>
        </p:txBody>
      </p:sp>
      <p:sp>
        <p:nvSpPr>
          <p:cNvPr id="206" name="Shape 206"/>
          <p:cNvSpPr/>
          <p:nvPr/>
        </p:nvSpPr>
        <p:spPr>
          <a:xfrm>
            <a:off x="685800" y="2368296"/>
            <a:ext cx="914400" cy="566928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2</a:t>
            </a:r>
            <a:endParaRPr lang="en-US"/>
          </a:p>
        </p:txBody>
      </p:sp>
      <p:sp>
        <p:nvSpPr>
          <p:cNvPr id="207" name="Shape 207"/>
          <p:cNvSpPr/>
          <p:nvPr/>
        </p:nvSpPr>
        <p:spPr>
          <a:xfrm>
            <a:off x="1600200" y="2368296"/>
            <a:ext cx="5852160" cy="566928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Augmentation smoke test</a:t>
            </a:r>
            <a:endParaRPr lang="en-US"/>
          </a:p>
        </p:txBody>
      </p:sp>
      <p:sp>
        <p:nvSpPr>
          <p:cNvPr id="208" name="Shape 208"/>
          <p:cNvSpPr/>
          <p:nvPr/>
        </p:nvSpPr>
        <p:spPr>
          <a:xfrm>
            <a:off x="7452360" y="2368296"/>
            <a:ext cx="4206240" cy="566928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Detector + GAN aug co robust hon khong</a:t>
            </a:r>
            <a:endParaRPr lang="en-US"/>
          </a:p>
        </p:txBody>
      </p:sp>
      <p:sp>
        <p:nvSpPr>
          <p:cNvPr id="209" name="Shape 209"/>
          <p:cNvSpPr/>
          <p:nvPr/>
        </p:nvSpPr>
        <p:spPr>
          <a:xfrm>
            <a:off x="685800" y="2935224"/>
            <a:ext cx="9144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3</a:t>
            </a:r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1600200" y="2935224"/>
            <a:ext cx="58521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Real-space vertical slice</a:t>
            </a:r>
            <a:endParaRPr lang="en-US"/>
          </a:p>
        </p:txBody>
      </p:sp>
      <p:sp>
        <p:nvSpPr>
          <p:cNvPr id="211" name="Shape 211"/>
          <p:cNvSpPr/>
          <p:nvPr/>
        </p:nvSpPr>
        <p:spPr>
          <a:xfrm>
            <a:off x="7452360" y="2935224"/>
            <a:ext cx="42062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Rehydrate + libinjection/local WAF</a:t>
            </a:r>
            <a:endParaRPr lang="en-US"/>
          </a:p>
        </p:txBody>
      </p:sp>
      <p:sp>
        <p:nvSpPr>
          <p:cNvPr id="212" name="Shape 212"/>
          <p:cNvSpPr/>
          <p:nvPr/>
        </p:nvSpPr>
        <p:spPr>
          <a:xfrm>
            <a:off x="685800" y="3502152"/>
            <a:ext cx="914400" cy="566928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4</a:t>
            </a:r>
            <a:endParaRPr lang="en-US"/>
          </a:p>
        </p:txBody>
      </p:sp>
      <p:sp>
        <p:nvSpPr>
          <p:cNvPr id="213" name="Shape 213"/>
          <p:cNvSpPr/>
          <p:nvPr/>
        </p:nvSpPr>
        <p:spPr>
          <a:xfrm>
            <a:off x="1600200" y="3502152"/>
            <a:ext cx="5852160" cy="566928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Chot thesis</a:t>
            </a:r>
            <a:endParaRPr lang="en-US"/>
          </a:p>
        </p:txBody>
      </p:sp>
      <p:sp>
        <p:nvSpPr>
          <p:cNvPr id="214" name="Shape 214"/>
          <p:cNvSpPr/>
          <p:nvPr/>
        </p:nvSpPr>
        <p:spPr>
          <a:xfrm>
            <a:off x="7452360" y="3502152"/>
            <a:ext cx="4206240" cy="566928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Augmentation positive hoac negative-methodology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Ket luan de noi voi thay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Trung thuc voi ket qua, van giu GAN lam trung tam</a:t>
            </a:r>
            <a:endParaRPr lang="en-US"/>
          </a:p>
        </p:txBody>
      </p:sp>
      <p:sp>
        <p:nvSpPr>
          <p:cNvPr id="220" name="Shape 220"/>
          <p:cNvSpPr/>
          <p:nvPr/>
        </p:nvSpPr>
        <p:spPr>
          <a:xfrm>
            <a:off x="822960" y="1325880"/>
            <a:ext cx="3108960" cy="91440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Calibri"/>
              </a:rPr>
              <a:t>Da lam</a:t>
            </a:r>
            <a:endParaRPr lang="en-US"/>
          </a:p>
        </p:txBody>
      </p:sp>
      <p:sp>
        <p:nvSpPr>
          <p:cNvPr id="221" name="Shape 221"/>
          <p:cNvSpPr/>
          <p:nvPr/>
        </p:nvSpPr>
        <p:spPr>
          <a:xfrm>
            <a:off x="4526280" y="1325880"/>
            <a:ext cx="3108960" cy="91440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Calibri"/>
              </a:rPr>
              <a:t>Ket qua</a:t>
            </a:r>
            <a:endParaRPr lang="en-US"/>
          </a:p>
        </p:txBody>
      </p:sp>
      <p:sp>
        <p:nvSpPr>
          <p:cNvPr id="222" name="Shape 222"/>
          <p:cNvSpPr/>
          <p:nvPr/>
        </p:nvSpPr>
        <p:spPr>
          <a:xfrm>
            <a:off x="8229600" y="1325880"/>
            <a:ext cx="3108960" cy="91440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Calibri"/>
              </a:rPr>
              <a:t>Dinh huong</a:t>
            </a:r>
            <a:endParaRPr lang="en-US"/>
          </a:p>
        </p:txBody>
      </p:sp>
      <p:sp>
        <p:nvSpPr>
          <p:cNvPr id="223" name="Text 223"/>
          <p:cNvSpPr txBox="1"/>
          <p:nvPr/>
        </p:nvSpPr>
        <p:spPr>
          <a:xfrm>
            <a:off x="822960" y="260604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>
                <a:solidFill>
                  <a:srgbClr val="111827"/>
                </a:solidFill>
                <a:latin typeface="Calibri"/>
              </a:rPr>
              <a:t>Dataset audit
Cluster split
Baselines
H5' GAN
Evaluator</a:t>
            </a:r>
            <a:endParaRPr lang="en-US"/>
          </a:p>
        </p:txBody>
      </p:sp>
      <p:sp>
        <p:nvSpPr>
          <p:cNvPr id="224" name="Text 224"/>
          <p:cNvSpPr txBox="1"/>
          <p:nvPr/>
        </p:nvSpPr>
        <p:spPr>
          <a:xfrm>
            <a:off x="4526280" y="260604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>
                <a:solidFill>
                  <a:srgbClr val="111827"/>
                </a:solidFill>
                <a:latin typeface="Calibri"/>
              </a:rPr>
              <a:t>GAN generator
khong vuot baseline
trong delex-space</a:t>
            </a:r>
            <a:endParaRPr lang="en-US"/>
          </a:p>
        </p:txBody>
      </p:sp>
      <p:sp>
        <p:nvSpPr>
          <p:cNvPr id="225" name="Text 225"/>
          <p:cNvSpPr txBox="1"/>
          <p:nvPr/>
        </p:nvSpPr>
        <p:spPr>
          <a:xfrm>
            <a:off x="8229600" y="260604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>
                <a:solidFill>
                  <a:srgbClr val="111827"/>
                </a:solidFill>
                <a:latin typeface="Calibri"/>
              </a:rPr>
              <a:t>GAN doi vai:
augmentation-engine
real-space policy</a:t>
            </a:r>
            <a:endParaRPr lang="en-US"/>
          </a:p>
        </p:txBody>
      </p:sp>
      <p:sp>
        <p:nvSpPr>
          <p:cNvPr id="226" name="Text 226"/>
          <p:cNvSpPr txBox="1"/>
          <p:nvPr/>
        </p:nvSpPr>
        <p:spPr>
          <a:xfrm>
            <a:off x="822960" y="48920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 b="1">
                <a:solidFill>
                  <a:srgbClr val="4A5568"/>
                </a:solidFill>
                <a:latin typeface="Calibri"/>
              </a:rPr>
              <a:t>GAN van la trung tam theo nghia nghien cuu vai tro cua GAN trong SQLi pipeline, khong phai ep GAN generator phai thang moi baseline.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N_SQLi Theme">
  <a:themeElements>
    <a:clrScheme name="Custom">
      <a:dk1>
        <a:srgbClr val="111827"/>
      </a:dk1>
      <a:lt1>
        <a:srgbClr val="FFFFFF"/>
      </a:lt1>
      <a:dk2>
        <a:srgbClr val="153A5B"/>
      </a:dk2>
      <a:lt2>
        <a:srgbClr val="EDF2F7"/>
      </a:lt2>
      <a:accent1>
        <a:srgbClr val="2B6CB0"/>
      </a:accent1>
      <a:accent2>
        <a:srgbClr val="2F855A"/>
      </a:accent2>
      <a:accent3>
        <a:srgbClr val="C05621"/>
      </a:accent3>
      <a:accent4>
        <a:srgbClr val="6B46C1"/>
      </a:accent4>
      <a:accent5>
        <a:srgbClr val="1A9BAA"/>
      </a:accent5>
      <a:accent6>
        <a:srgbClr val="C53030"/>
      </a:accent6>
      <a:hlink>
        <a:srgbClr val="2B6CB0"/>
      </a:hlink>
      <a:folHlink>
        <a:srgbClr val="6B46C1"/>
      </a:folHlink>
    </a:clrScheme>
    <a:fontScheme name="Calibri">
      <a:majorFont>
        <a:latin typeface="Calibri"/>
      </a:majorFont>
      <a:minorFont>
        <a:latin typeface="Calibri"/>
      </a:minorFont>
    </a:fontScheme>
    <a:fmtScheme name="Simple">
      <a:fillStyleLst/>
      <a:lnStyleLst/>
      <a:effectStyleLst/>
      <a:bgFillStyleLst/>
    </a:fmtScheme>
  </a:themeElements>
</a:theme>
</file>