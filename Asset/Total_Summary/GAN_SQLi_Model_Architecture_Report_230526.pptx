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777240" y="8686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3150" b="1">
                <a:solidFill>
                  <a:srgbClr val="FFFFFF"/>
                </a:solidFill>
                <a:latin typeface="Calibri"/>
              </a:rPr>
              <a:t>Kien truc mo hinh GAN cho SQL Injection sau gop y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1234440" y="205740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700">
                <a:solidFill>
                  <a:srgbClr val="DDEBFF"/>
                </a:solidFill>
                <a:latin typeface="Calibri"/>
              </a:rPr>
              <a:t>Dataset - Generator - Discriminator - WAF/Evaluator - Reward - Baseline - Huong tiep</a:t>
            </a:r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868680" y="3840480"/>
            <a:ext cx="2057400" cy="77724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Da lam
Phase 1-8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3611880" y="3840480"/>
            <a:ext cx="2057400" cy="777240"/>
          </a:xfrm>
          <a:prstGeom prst="roundRect">
            <a:avLst/>
          </a:prstGeom>
          <a:solidFill>
            <a:srgbClr val="6B46C1"/>
          </a:solidFill>
          <a:ln w="19050">
            <a:solidFill>
              <a:srgbClr val="FFFF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Kien truc
G-D-WAF</a:t>
            </a:r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6355080" y="3840480"/>
            <a:ext cx="2057400" cy="77724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FFFF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Ket qua
Gate fail</a:t>
            </a:r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9098280" y="3840480"/>
            <a:ext cx="2057400" cy="77724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Tiep theo
Doi vai GAN</a:t>
            </a:r>
            <a:endParaRPr lang="en-US"/>
          </a:p>
        </p:txBody>
      </p:sp>
      <p:cxnSp>
        <p:nvCxnSpPr>
          <p:cNvPr id="9" name="Arrow 9"/>
          <p:cNvCxnSpPr/>
          <p:nvPr/>
        </p:nvCxnSpPr>
        <p:spPr>
          <a:xfrm>
            <a:off x="2926080" y="4224528"/>
            <a:ext cx="685800" cy="1"/>
          </a:xfrm>
          <a:prstGeom prst="straightConnector1">
            <a:avLst/>
          </a:prstGeom>
          <a:ln w="28575">
            <a:solidFill>
              <a:srgbClr val="FFFFFF"/>
            </a:solidFill>
            <a:tailEnd type="none"/>
            <a:headEnd type="triangle"/>
          </a:ln>
        </p:spPr>
      </p:cxnSp>
      <p:cxnSp>
        <p:nvCxnSpPr>
          <p:cNvPr id="10" name="Arrow 10"/>
          <p:cNvCxnSpPr/>
          <p:nvPr/>
        </p:nvCxnSpPr>
        <p:spPr>
          <a:xfrm>
            <a:off x="5669280" y="4224528"/>
            <a:ext cx="685800" cy="1"/>
          </a:xfrm>
          <a:prstGeom prst="straightConnector1">
            <a:avLst/>
          </a:prstGeom>
          <a:ln w="28575">
            <a:solidFill>
              <a:srgbClr val="FFFFFF"/>
            </a:solidFill>
            <a:tailEnd type="none"/>
            <a:headEnd type="triangle"/>
          </a:ln>
        </p:spPr>
      </p:cxnSp>
      <p:cxnSp>
        <p:nvCxnSpPr>
          <p:cNvPr id="11" name="Arrow 11"/>
          <p:cNvCxnSpPr/>
          <p:nvPr/>
        </p:nvCxnSpPr>
        <p:spPr>
          <a:xfrm>
            <a:off x="8412480" y="4224528"/>
            <a:ext cx="685800" cy="1"/>
          </a:xfrm>
          <a:prstGeom prst="straightConnector1">
            <a:avLst/>
          </a:prstGeom>
          <a:ln w="28575">
            <a:solidFill>
              <a:srgbClr val="FFFFFF"/>
            </a:solidFill>
            <a:tailEnd type="none"/>
            <a:headEnd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Vòng lặp đối kháng G-D-WAF-reward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Một sơ đồ trả lời trực tiếp: các khối nối với nhau thế nào và reward dùng ở đâu?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00" name="Node 1000"/>
          <p:cNvSpPr/>
          <p:nvPr/>
        </p:nvSpPr>
        <p:spPr>
          <a:xfrm>
            <a:off x="502920" y="2148840"/>
            <a:ext cx="1783080" cy="731520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Dataset /
Delex-frame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1" name="Node 1001"/>
          <p:cNvSpPr/>
          <p:nvPr/>
        </p:nvSpPr>
        <p:spPr>
          <a:xfrm>
            <a:off x="2788920" y="1234440"/>
            <a:ext cx="1691640" cy="74980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20" b="1">
                <a:solidFill>
                  <a:srgbClr val="FFFFFF"/>
                </a:solidFill>
                <a:latin typeface="Calibri"/>
              </a:rPr>
              <a:t>Generator G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2" name="Node 1002"/>
          <p:cNvSpPr/>
          <p:nvPr/>
        </p:nvSpPr>
        <p:spPr>
          <a:xfrm>
            <a:off x="4983480" y="1234440"/>
            <a:ext cx="1691640" cy="749808"/>
          </a:xfrm>
          <a:prstGeom prst="roundRect">
            <a:avLst/>
          </a:prstGeom>
          <a:solidFill>
            <a:srgbClr val="1A9BAA"/>
          </a:solidFill>
          <a:ln w="28575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20" b="1">
                <a:solidFill>
                  <a:srgbClr val="FFFFFF"/>
                </a:solidFill>
                <a:latin typeface="Calibri"/>
              </a:rPr>
              <a:t>Candidates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3" name="Node 1003"/>
          <p:cNvSpPr/>
          <p:nvPr/>
        </p:nvSpPr>
        <p:spPr>
          <a:xfrm>
            <a:off x="7315200" y="1234440"/>
            <a:ext cx="1828800" cy="749808"/>
          </a:xfrm>
          <a:prstGeom prst="roundRect">
            <a:avLst/>
          </a:prstGeom>
          <a:solidFill>
            <a:srgbClr val="6B46C1"/>
          </a:solidFill>
          <a:ln w="28575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980" b="1">
                <a:solidFill>
                  <a:srgbClr val="FFFFFF"/>
                </a:solidFill>
                <a:latin typeface="Calibri"/>
              </a:rPr>
              <a:t>Discriminator D
/ Detector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4" name="Node 1004"/>
          <p:cNvSpPr/>
          <p:nvPr/>
        </p:nvSpPr>
        <p:spPr>
          <a:xfrm>
            <a:off x="7452360" y="3154680"/>
            <a:ext cx="1828800" cy="749808"/>
          </a:xfrm>
          <a:prstGeom prst="roundRect">
            <a:avLst/>
          </a:prstGeom>
          <a:solidFill>
            <a:srgbClr val="C05621"/>
          </a:solidFill>
          <a:ln w="28575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80" b="1">
                <a:solidFill>
                  <a:srgbClr val="FFFFFF"/>
                </a:solidFill>
                <a:latin typeface="Calibri"/>
              </a:rPr>
              <a:t>WAF / Oracle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5" name="Node 1005"/>
          <p:cNvSpPr/>
          <p:nvPr/>
        </p:nvSpPr>
        <p:spPr>
          <a:xfrm>
            <a:off x="4937760" y="4434840"/>
            <a:ext cx="1783080" cy="749808"/>
          </a:xfrm>
          <a:prstGeom prst="roundRect">
            <a:avLst/>
          </a:prstGeom>
          <a:solidFill>
            <a:srgbClr val="2F855A"/>
          </a:solidFill>
          <a:ln w="28575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Reward /
Score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1006" name="Node 1006"/>
          <p:cNvSpPr/>
          <p:nvPr/>
        </p:nvSpPr>
        <p:spPr>
          <a:xfrm>
            <a:off x="9829800" y="4297680"/>
            <a:ext cx="1737360" cy="74980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20" b="1">
                <a:solidFill>
                  <a:srgbClr val="2F855A"/>
                </a:solidFill>
                <a:latin typeface="Calibri"/>
              </a:rPr>
              <a:t>Augmented
training set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1010" name="Arrow 1010"/>
          <p:cNvCxnSpPr/>
          <p:nvPr/>
        </p:nvCxnSpPr>
        <p:spPr>
          <a:xfrm flipV="1">
            <a:off x="2286000" y="1600200"/>
            <a:ext cx="502919" cy="731519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sp>
        <p:nvSpPr>
          <p:cNvPr id="1011" name="Shape 1011"/>
          <p:cNvSpPr/>
          <p:nvPr/>
        </p:nvSpPr>
        <p:spPr>
          <a:xfrm>
            <a:off x="1600200" y="1508760"/>
            <a:ext cx="16002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frame + điều kiện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2" name="Arrow 1012"/>
          <p:cNvCxnSpPr/>
          <p:nvPr/>
        </p:nvCxnSpPr>
        <p:spPr>
          <a:xfrm>
            <a:off x="4480560" y="1609344"/>
            <a:ext cx="502919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sp>
        <p:nvSpPr>
          <p:cNvPr id="1013" name="Shape 1013"/>
          <p:cNvSpPr/>
          <p:nvPr/>
        </p:nvSpPr>
        <p:spPr>
          <a:xfrm>
            <a:off x="4251960" y="1097280"/>
            <a:ext cx="17830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sinh slot / biến thể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4" name="Arrow 1014"/>
          <p:cNvCxnSpPr/>
          <p:nvPr/>
        </p:nvCxnSpPr>
        <p:spPr>
          <a:xfrm>
            <a:off x="6675120" y="1609344"/>
            <a:ext cx="640080" cy="1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sp>
        <p:nvSpPr>
          <p:cNvPr id="1015" name="Shape 1015"/>
          <p:cNvSpPr/>
          <p:nvPr/>
        </p:nvSpPr>
        <p:spPr>
          <a:xfrm>
            <a:off x="6309360" y="1097280"/>
            <a:ext cx="173736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đưa real vs fake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6" name="Elbow 1016"/>
          <p:cNvCxnSpPr/>
          <p:nvPr/>
        </p:nvCxnSpPr>
        <p:spPr>
          <a:xfrm flipH="1" flipV="1">
            <a:off x="3657600" y="987552"/>
            <a:ext cx="3657600" cy="310895"/>
          </a:xfrm>
          <a:prstGeom prst="bentConnector3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sp>
        <p:nvSpPr>
          <p:cNvPr id="1017" name="Shape 1017"/>
          <p:cNvSpPr/>
          <p:nvPr/>
        </p:nvSpPr>
        <p:spPr>
          <a:xfrm>
            <a:off x="4617720" y="658368"/>
            <a:ext cx="1874519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tín hiệu đối kháng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18" name="Arrow 1018"/>
          <p:cNvCxnSpPr/>
          <p:nvPr/>
        </p:nvCxnSpPr>
        <p:spPr>
          <a:xfrm>
            <a:off x="5989320" y="1984248"/>
            <a:ext cx="1463040" cy="1170432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sp>
        <p:nvSpPr>
          <p:cNvPr id="1019" name="Shape 1019"/>
          <p:cNvSpPr/>
          <p:nvPr/>
        </p:nvSpPr>
        <p:spPr>
          <a:xfrm>
            <a:off x="5989320" y="2468880"/>
            <a:ext cx="18288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C05621"/>
                </a:solidFill>
                <a:latin typeface="Calibri"/>
              </a:rPr>
              <a:t>validity + evasion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0" name="Arrow 1020"/>
          <p:cNvCxnSpPr/>
          <p:nvPr/>
        </p:nvCxnSpPr>
        <p:spPr>
          <a:xfrm flipH="1">
            <a:off x="6720840" y="3639312"/>
            <a:ext cx="731520" cy="932688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021" name="Shape 1021"/>
          <p:cNvSpPr/>
          <p:nvPr/>
        </p:nvSpPr>
        <p:spPr>
          <a:xfrm>
            <a:off x="6720840" y="3977639"/>
            <a:ext cx="96012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điểm số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2" name="Elbow 1022"/>
          <p:cNvCxnSpPr/>
          <p:nvPr/>
        </p:nvCxnSpPr>
        <p:spPr>
          <a:xfrm flipH="1" flipV="1">
            <a:off x="3520440" y="1984248"/>
            <a:ext cx="1417320" cy="2825496"/>
          </a:xfrm>
          <a:prstGeom prst="bentConnector3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023" name="Shape 1023"/>
          <p:cNvSpPr/>
          <p:nvPr/>
        </p:nvSpPr>
        <p:spPr>
          <a:xfrm>
            <a:off x="2423160" y="4251960"/>
            <a:ext cx="21488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reward -&gt; rerank / penalty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4" name="Elbow 1024"/>
          <p:cNvCxnSpPr/>
          <p:nvPr/>
        </p:nvCxnSpPr>
        <p:spPr>
          <a:xfrm flipH="1" flipV="1">
            <a:off x="4069080" y="1984248"/>
            <a:ext cx="1874519" cy="2825496"/>
          </a:xfrm>
          <a:prstGeom prst="bentConnector3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sp>
        <p:nvSpPr>
          <p:cNvPr id="1025" name="Shape 1025"/>
          <p:cNvSpPr/>
          <p:nvPr/>
        </p:nvSpPr>
        <p:spPr>
          <a:xfrm>
            <a:off x="3977639" y="5047488"/>
            <a:ext cx="150876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-&gt; policy update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6" name="Arrow 1026"/>
          <p:cNvCxnSpPr/>
          <p:nvPr/>
        </p:nvCxnSpPr>
        <p:spPr>
          <a:xfrm>
            <a:off x="9281160" y="3639312"/>
            <a:ext cx="548639" cy="978407"/>
          </a:xfrm>
          <a:prstGeom prst="straightConnector1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sp>
        <p:nvSpPr>
          <p:cNvPr id="1027" name="Shape 1027"/>
          <p:cNvSpPr/>
          <p:nvPr/>
        </p:nvSpPr>
        <p:spPr>
          <a:xfrm>
            <a:off x="8915400" y="4069080"/>
            <a:ext cx="17830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dữ liệu gắn nhãn</a:t>
            </a:r>
            <a:endParaRPr lang="en-US"/>
          </a:p>
        </p:txBody>
      </p:sp>
      <p:cxnSp xmlns:a="http://schemas.openxmlformats.org/drawingml/2006/main" xmlns:p="http://schemas.openxmlformats.org/presentationml/2006/main">
        <p:nvCxnSpPr>
          <p:cNvPr id="1028" name="Elbow 1028"/>
          <p:cNvCxnSpPr/>
          <p:nvPr/>
        </p:nvCxnSpPr>
        <p:spPr>
          <a:xfrm flipH="1" flipV="1">
            <a:off x="8412480" y="1984248"/>
            <a:ext cx="2286000" cy="2313432"/>
          </a:xfrm>
          <a:prstGeom prst="bentConnector3">
            <a:avLst/>
          </a:prstGeom>
          <a:ln w="28575">
            <a:solidFill>
              <a:srgbClr val="6B46C1"/>
            </a:solidFill>
            <a:prstDash val="dash"/>
            <a:tailEnd type="none"/>
            <a:headEnd type="triangle"/>
          </a:ln>
        </p:spPr>
      </p:cxnSp>
      <p:sp>
        <p:nvSpPr>
          <p:cNvPr id="1029" name="Shape 1029"/>
          <p:cNvSpPr/>
          <p:nvPr/>
        </p:nvSpPr>
        <p:spPr>
          <a:xfrm>
            <a:off x="9235440" y="2743200"/>
            <a:ext cx="20116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augment -&gt; D robust hơn</a:t>
            </a:r>
            <a:endParaRPr lang="en-US"/>
          </a:p>
        </p:txBody>
      </p:sp>
      <p:sp>
        <p:nvSpPr>
          <p:cNvPr id="1030" name="Text 1030"/>
          <p:cNvSpPr txBox="1"/>
          <p:nvPr/>
        </p:nvSpPr>
        <p:spPr>
          <a:xfrm>
            <a:off x="685800" y="53492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050" b="1">
                <a:solidFill>
                  <a:srgbClr val="4A5568"/>
                </a:solidFill>
                <a:latin typeface="Calibri"/>
              </a:rPr>
              <a:t>G sinh ứng viên; D tạo tín hiệu đối kháng; WAF/Oracle chấm validity/evasion; reward quay về để chọn mẫu và mở đường policy update.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40" name="Node 1040"/>
          <p:cNvSpPr/>
          <p:nvPr/>
        </p:nvSpPr>
        <p:spPr>
          <a:xfrm>
            <a:off x="9464040" y="685800"/>
            <a:ext cx="384048" cy="228600"/>
          </a:xfrm>
          <a:prstGeom prst="roundRect">
            <a:avLst/>
          </a:prstGeom>
          <a:solidFill>
            <a:srgbClr val="2F855A"/>
          </a:solidFill>
          <a:ln w="28575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700" b="1">
                <a:solidFill>
                  <a:srgbClr val="FFFFFF"/>
                </a:solidFill>
                <a:latin typeface="Calibri"/>
              </a:rPr>
              <a:t/>
            </a:r>
            <a:endParaRPr lang="vi-VN"/>
          </a:p>
        </p:txBody>
      </p:sp>
      <p:sp>
        <p:nvSpPr>
          <p:cNvPr id="1041" name="Text 1041"/>
          <p:cNvSpPr txBox="1"/>
          <p:nvPr/>
        </p:nvSpPr>
        <p:spPr>
          <a:xfrm>
            <a:off x="9939528" y="66751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850">
                <a:solidFill>
                  <a:srgbClr val="4A5568"/>
                </a:solidFill>
                <a:latin typeface="Calibri"/>
              </a:rPr>
              <a:t>Đã làm (Phase 1-8)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42" name="Node 1042"/>
          <p:cNvSpPr/>
          <p:nvPr/>
        </p:nvSpPr>
        <p:spPr>
          <a:xfrm>
            <a:off x="9464040" y="1069848"/>
            <a:ext cx="384048" cy="228600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C0562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700" b="1">
                <a:solidFill>
                  <a:srgbClr val="C05621"/>
                </a:solidFill>
                <a:latin typeface="Calibri"/>
              </a:rPr>
              <a:t/>
            </a:r>
            <a:endParaRPr lang="vi-VN"/>
          </a:p>
        </p:txBody>
      </p:sp>
      <p:sp>
        <p:nvSpPr>
          <p:cNvPr id="1043" name="Text 1043"/>
          <p:cNvSpPr txBox="1"/>
          <p:nvPr/>
        </p:nvSpPr>
        <p:spPr>
          <a:xfrm>
            <a:off x="9939528" y="10515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850">
                <a:solidFill>
                  <a:srgbClr val="4A5568"/>
                </a:solidFill>
                <a:latin typeface="Calibri"/>
              </a:rPr>
              <a:t>Tương lai (đề xuất)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Thay da yeu cau lam ro gi?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Deck nay tra loi truc tiep cac diem sau gop y</a:t>
            </a:r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685800" y="1325880"/>
            <a:ext cx="237744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Dataset
nguon + nhan</a:t>
            </a:r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3520440" y="1325880"/>
            <a:ext cx="237744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Generator /
Discriminator</a:t>
            </a:r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6355080" y="1325880"/>
            <a:ext cx="237744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WAF / Evaluator
reward</a:t>
            </a:r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9189720" y="1325880"/>
            <a:ext cx="2377440" cy="9601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Baseline /
collapse</a:t>
            </a:r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960120" y="30632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50" b="1">
                <a:solidFill>
                  <a:srgbClr val="111827"/>
                </a:solidFill>
                <a:latin typeface="Calibri"/>
              </a:rPr>
              <a:t>Thong diep chinh: em da lam ro pipeline du lieu, kien truc G-D-WAF, noi dung reward, ket qua fail gate va huong doi vai GAN.</a:t>
            </a:r>
            <a:endParaRPr lang="en-US"/>
          </a:p>
        </p:txBody>
      </p:sp>
      <p:sp>
        <p:nvSpPr>
          <p:cNvPr id="25" name="Text 25"/>
          <p:cNvSpPr txBox="1"/>
          <p:nvPr/>
        </p:nvSpPr>
        <p:spPr>
          <a:xfrm>
            <a:off x="1280160" y="4160520"/>
            <a:ext cx="9144000" cy="9601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111827"/>
                </a:solidFill>
                <a:latin typeface="Calibri"/>
              </a:rPr>
              <a:t>- Khong chi ke pivot; moi slide gan voi mot thanh phan ky thuat.
- Nhan manh dieu da lam sau gop y va cach danh gia cong bang.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Kien truc dataset hien tai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Multiple sources -&gt; normalize -&gt; label/confidence -&gt; delex -&gt; audit -&gt; cluster split</a:t>
            </a:r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411480" y="1828800"/>
            <a:ext cx="169164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Calibri"/>
              </a:rPr>
              <a:t>Multiple
sources</a:t>
            </a:r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2423160" y="1828800"/>
            <a:ext cx="169164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Calibri"/>
              </a:rPr>
              <a:t>Normalize
schema</a:t>
            </a:r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4434840" y="1828800"/>
            <a:ext cx="169164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111827"/>
                </a:solidFill>
                <a:latin typeface="Calibri"/>
              </a:rPr>
              <a:t>Label +
confidence</a:t>
            </a:r>
            <a:endParaRPr lang="en-US"/>
          </a:p>
        </p:txBody>
      </p:sp>
      <p:sp>
        <p:nvSpPr>
          <p:cNvPr id="33" name="Shape 33"/>
          <p:cNvSpPr/>
          <p:nvPr/>
        </p:nvSpPr>
        <p:spPr>
          <a:xfrm>
            <a:off x="6446520" y="1828800"/>
            <a:ext cx="169164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Calibri"/>
              </a:rPr>
              <a:t>Delex
v5</a:t>
            </a:r>
            <a:endParaRPr lang="en-US"/>
          </a:p>
        </p:txBody>
      </p:sp>
      <p:sp>
        <p:nvSpPr>
          <p:cNvPr id="34" name="Shape 34"/>
          <p:cNvSpPr/>
          <p:nvPr/>
        </p:nvSpPr>
        <p:spPr>
          <a:xfrm>
            <a:off x="8458200" y="1828800"/>
            <a:ext cx="169164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Audit</a:t>
            </a:r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10469880" y="1828800"/>
            <a:ext cx="1325880" cy="68580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Calibri"/>
              </a:rPr>
              <a:t>Cluster
split</a:t>
            </a:r>
            <a:endParaRPr lang="en-US"/>
          </a:p>
        </p:txBody>
      </p:sp>
      <p:cxnSp>
        <p:nvCxnSpPr>
          <p:cNvPr id="36" name="Arrow 36"/>
          <p:cNvCxnSpPr/>
          <p:nvPr/>
        </p:nvCxnSpPr>
        <p:spPr>
          <a:xfrm>
            <a:off x="2103120" y="2176272"/>
            <a:ext cx="320040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37" name="Arrow 37"/>
          <p:cNvCxnSpPr/>
          <p:nvPr/>
        </p:nvCxnSpPr>
        <p:spPr>
          <a:xfrm>
            <a:off x="4114800" y="2176272"/>
            <a:ext cx="320040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38" name="Arrow 38"/>
          <p:cNvCxnSpPr/>
          <p:nvPr/>
        </p:nvCxnSpPr>
        <p:spPr>
          <a:xfrm>
            <a:off x="6126480" y="2176272"/>
            <a:ext cx="320040" cy="1"/>
          </a:xfrm>
          <a:prstGeom prst="straightConnector1">
            <a:avLst/>
          </a:prstGeom>
          <a:ln w="28575">
            <a:solidFill>
              <a:srgbClr val="1A9BAA"/>
            </a:solidFill>
            <a:tailEnd type="none"/>
            <a:headEnd type="triangle"/>
          </a:ln>
        </p:spPr>
      </p:cxnSp>
      <p:cxnSp>
        <p:nvCxnSpPr>
          <p:cNvPr id="39" name="Arrow 39"/>
          <p:cNvCxnSpPr/>
          <p:nvPr/>
        </p:nvCxnSpPr>
        <p:spPr>
          <a:xfrm>
            <a:off x="8138160" y="2176272"/>
            <a:ext cx="320040" cy="1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>
        <p:nvCxnSpPr>
          <p:cNvPr id="40" name="Arrow 40"/>
          <p:cNvCxnSpPr/>
          <p:nvPr/>
        </p:nvCxnSpPr>
        <p:spPr>
          <a:xfrm>
            <a:off x="10149840" y="2176272"/>
            <a:ext cx="320040" cy="1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41" name="Text 41"/>
          <p:cNvSpPr txBox="1"/>
          <p:nvPr/>
        </p:nvSpPr>
        <p:spPr>
          <a:xfrm>
            <a:off x="777240" y="333756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53A5B"/>
                </a:solidFill>
                <a:latin typeface="Calibri"/>
              </a:rPr>
              <a:t>Field chinh</a:t>
            </a:r>
            <a:endParaRPr lang="en-US"/>
          </a:p>
        </p:txBody>
      </p:sp>
      <p:sp>
        <p:nvSpPr>
          <p:cNvPr id="42" name="Shape 42"/>
          <p:cNvSpPr/>
          <p:nvPr/>
        </p:nvSpPr>
        <p:spPr>
          <a:xfrm>
            <a:off x="868680" y="3977639"/>
            <a:ext cx="20574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950" b="1">
                <a:solidFill>
                  <a:srgbClr val="2B6CB0"/>
                </a:solidFill>
                <a:latin typeface="Calibri"/>
              </a:rPr>
              <a:t>payload_working</a:t>
            </a:r>
            <a:endParaRPr lang="en-US"/>
          </a:p>
        </p:txBody>
      </p:sp>
      <p:sp>
        <p:nvSpPr>
          <p:cNvPr id="43" name="Shape 43"/>
          <p:cNvSpPr/>
          <p:nvPr/>
        </p:nvSpPr>
        <p:spPr>
          <a:xfrm>
            <a:off x="3063240" y="3977639"/>
            <a:ext cx="20574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950" b="1">
                <a:solidFill>
                  <a:srgbClr val="1A9BAA"/>
                </a:solidFill>
                <a:latin typeface="Calibri"/>
              </a:rPr>
              <a:t>payload_delex_v5</a:t>
            </a:r>
            <a:endParaRPr lang="en-US"/>
          </a:p>
        </p:txBody>
      </p:sp>
      <p:sp>
        <p:nvSpPr>
          <p:cNvPr id="44" name="Shape 44"/>
          <p:cNvSpPr/>
          <p:nvPr/>
        </p:nvSpPr>
        <p:spPr>
          <a:xfrm>
            <a:off x="5257800" y="3977639"/>
            <a:ext cx="20574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950" b="1">
                <a:solidFill>
                  <a:srgbClr val="2F855A"/>
                </a:solidFill>
                <a:latin typeface="Calibri"/>
              </a:rPr>
              <a:t>is_sqli</a:t>
            </a:r>
            <a:endParaRPr lang="en-US"/>
          </a:p>
        </p:txBody>
      </p:sp>
      <p:sp>
        <p:nvSpPr>
          <p:cNvPr id="45" name="Shape 45"/>
          <p:cNvSpPr/>
          <p:nvPr/>
        </p:nvSpPr>
        <p:spPr>
          <a:xfrm>
            <a:off x="7452360" y="3977639"/>
            <a:ext cx="20574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950" b="1">
                <a:solidFill>
                  <a:srgbClr val="6B46C1"/>
                </a:solidFill>
                <a:latin typeface="Calibri"/>
              </a:rPr>
              <a:t>technique_primary</a:t>
            </a:r>
            <a:endParaRPr lang="en-US"/>
          </a:p>
        </p:txBody>
      </p:sp>
      <p:sp>
        <p:nvSpPr>
          <p:cNvPr id="46" name="Shape 46"/>
          <p:cNvSpPr/>
          <p:nvPr/>
        </p:nvSpPr>
        <p:spPr>
          <a:xfrm>
            <a:off x="9646920" y="3977639"/>
            <a:ext cx="205740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950" b="1">
                <a:solidFill>
                  <a:srgbClr val="C05621"/>
                </a:solidFill>
                <a:latin typeface="Calibri"/>
              </a:rPr>
              <a:t>db_family + confidence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Labeling va quality control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Sua diem yeu: confidence khong con la nhan chu quan</a:t>
            </a:r>
            <a:endParaRPr lang="en-US"/>
          </a:p>
        </p:txBody>
      </p:sp>
      <p:sp>
        <p:nvSpPr>
          <p:cNvPr id="50" name="Shape 50"/>
          <p:cNvSpPr/>
          <p:nvPr/>
        </p:nvSpPr>
        <p:spPr>
          <a:xfrm>
            <a:off x="731520" y="1828800"/>
            <a:ext cx="205740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Raw payload</a:t>
            </a:r>
            <a:endParaRPr lang="en-US"/>
          </a:p>
        </p:txBody>
      </p:sp>
      <p:sp>
        <p:nvSpPr>
          <p:cNvPr id="51" name="Shape 51"/>
          <p:cNvSpPr/>
          <p:nvPr/>
        </p:nvSpPr>
        <p:spPr>
          <a:xfrm>
            <a:off x="3383280" y="1828800"/>
            <a:ext cx="205740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Rule/script
label</a:t>
            </a:r>
            <a:endParaRPr lang="en-US"/>
          </a:p>
        </p:txBody>
      </p:sp>
      <p:sp>
        <p:nvSpPr>
          <p:cNvPr id="52" name="Shape 52"/>
          <p:cNvSpPr/>
          <p:nvPr/>
        </p:nvSpPr>
        <p:spPr>
          <a:xfrm>
            <a:off x="6035040" y="1828800"/>
            <a:ext cx="205740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Confidence
+ reason</a:t>
            </a:r>
            <a:endParaRPr lang="en-US"/>
          </a:p>
        </p:txBody>
      </p:sp>
      <p:sp>
        <p:nvSpPr>
          <p:cNvPr id="53" name="Shape 53"/>
          <p:cNvSpPr/>
          <p:nvPr/>
        </p:nvSpPr>
        <p:spPr>
          <a:xfrm>
            <a:off x="8686800" y="1828800"/>
            <a:ext cx="205740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Calibri"/>
              </a:rPr>
              <a:t>Conflict audit</a:t>
            </a:r>
            <a:endParaRPr lang="en-US"/>
          </a:p>
        </p:txBody>
      </p:sp>
      <p:sp>
        <p:nvSpPr>
          <p:cNvPr id="54" name="Shape 54"/>
          <p:cNvSpPr/>
          <p:nvPr/>
        </p:nvSpPr>
        <p:spPr>
          <a:xfrm>
            <a:off x="4754880" y="3703320"/>
            <a:ext cx="2560320" cy="77724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Gold / Silver
training slices</a:t>
            </a:r>
            <a:endParaRPr lang="en-US"/>
          </a:p>
        </p:txBody>
      </p:sp>
      <p:cxnSp>
        <p:nvCxnSpPr>
          <p:cNvPr id="55" name="Arrow 55"/>
          <p:cNvCxnSpPr/>
          <p:nvPr/>
        </p:nvCxnSpPr>
        <p:spPr>
          <a:xfrm>
            <a:off x="2788920" y="2212848"/>
            <a:ext cx="594360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56" name="Arrow 56"/>
          <p:cNvCxnSpPr/>
          <p:nvPr/>
        </p:nvCxnSpPr>
        <p:spPr>
          <a:xfrm>
            <a:off x="5440680" y="2212848"/>
            <a:ext cx="594360" cy="1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cxnSp>
        <p:nvCxnSpPr>
          <p:cNvPr id="57" name="Arrow 57"/>
          <p:cNvCxnSpPr/>
          <p:nvPr/>
        </p:nvCxnSpPr>
        <p:spPr>
          <a:xfrm>
            <a:off x="8092440" y="2212848"/>
            <a:ext cx="594360" cy="1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>
        <p:nvCxnSpPr>
          <p:cNvPr id="58" name="Arrow 58"/>
          <p:cNvCxnSpPr/>
          <p:nvPr/>
        </p:nvCxnSpPr>
        <p:spPr>
          <a:xfrm flipH="1">
            <a:off x="6035040" y="2606040"/>
            <a:ext cx="3657600" cy="1097280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59" name="Text 59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50" b="1">
                <a:solidFill>
                  <a:srgbClr val="4A5568"/>
                </a:solidFill>
                <a:latin typeface="Calibri"/>
              </a:rPr>
              <a:t>Moi label co nguon, ly do va muc tin cay; mau conflict duoc audit truoc khi dung cho claim.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Leakage audit va cluster-safe split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Random split qua lac quan vi cung template xuat hien o train/test</a:t>
            </a:r>
            <a:endParaRPr lang="en-US"/>
          </a:p>
        </p:txBody>
      </p:sp>
      <p:sp>
        <p:nvSpPr>
          <p:cNvPr id="60" name="Shape 60"/>
          <p:cNvSpPr/>
          <p:nvPr/>
        </p:nvSpPr>
        <p:spPr>
          <a:xfrm>
            <a:off x="685800" y="1325880"/>
            <a:ext cx="2743200" cy="91440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Calibri"/>
              </a:rPr>
              <a:t>1.6M rows</a:t>
            </a:r>
            <a:endParaRPr lang="en-US"/>
          </a:p>
        </p:txBody>
      </p:sp>
      <p:sp>
        <p:nvSpPr>
          <p:cNvPr id="61" name="Shape 61"/>
          <p:cNvSpPr/>
          <p:nvPr/>
        </p:nvSpPr>
        <p:spPr>
          <a:xfrm>
            <a:off x="4617720" y="1325880"/>
            <a:ext cx="2743200" cy="91440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</a:rPr>
              <a:t>~77,804
templates</a:t>
            </a:r>
            <a:endParaRPr lang="en-US"/>
          </a:p>
        </p:txBody>
      </p:sp>
      <p:sp>
        <p:nvSpPr>
          <p:cNvPr id="62" name="Shape 62"/>
          <p:cNvSpPr/>
          <p:nvPr/>
        </p:nvSpPr>
        <p:spPr>
          <a:xfrm>
            <a:off x="8549640" y="1325880"/>
            <a:ext cx="2743200" cy="91440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Calibri"/>
              </a:rPr>
              <a:t>Random split
bi leak</a:t>
            </a:r>
            <a:endParaRPr lang="en-US"/>
          </a:p>
        </p:txBody>
      </p:sp>
      <p:cxnSp>
        <p:nvCxnSpPr>
          <p:cNvPr id="63" name="Arrow 63"/>
          <p:cNvCxnSpPr/>
          <p:nvPr/>
        </p:nvCxnSpPr>
        <p:spPr>
          <a:xfrm>
            <a:off x="3429000" y="1783080"/>
            <a:ext cx="1188720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cxnSp>
        <p:nvCxnSpPr>
          <p:cNvPr id="64" name="Arrow 64"/>
          <p:cNvCxnSpPr/>
          <p:nvPr/>
        </p:nvCxnSpPr>
        <p:spPr>
          <a:xfrm>
            <a:off x="7360920" y="1783080"/>
            <a:ext cx="1188720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sp>
        <p:nvSpPr>
          <p:cNvPr id="65" name="Shape 65"/>
          <p:cNvSpPr/>
          <p:nvPr/>
        </p:nvSpPr>
        <p:spPr>
          <a:xfrm>
            <a:off x="1097280" y="3246120"/>
            <a:ext cx="2743200" cy="71323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train templates</a:t>
            </a:r>
            <a:endParaRPr lang="en-US"/>
          </a:p>
        </p:txBody>
      </p:sp>
      <p:sp>
        <p:nvSpPr>
          <p:cNvPr id="66" name="Shape 66"/>
          <p:cNvSpPr/>
          <p:nvPr/>
        </p:nvSpPr>
        <p:spPr>
          <a:xfrm>
            <a:off x="4709160" y="3246120"/>
            <a:ext cx="2743200" cy="71323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dev templates</a:t>
            </a:r>
            <a:endParaRPr lang="en-US"/>
          </a:p>
        </p:txBody>
      </p:sp>
      <p:sp>
        <p:nvSpPr>
          <p:cNvPr id="67" name="Shape 67"/>
          <p:cNvSpPr/>
          <p:nvPr/>
        </p:nvSpPr>
        <p:spPr>
          <a:xfrm>
            <a:off x="8321040" y="3246120"/>
            <a:ext cx="2743200" cy="71323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test templates</a:t>
            </a:r>
            <a:endParaRPr lang="en-US"/>
          </a:p>
        </p:txBody>
      </p:sp>
      <p:sp>
        <p:nvSpPr>
          <p:cNvPr id="68" name="Text 68"/>
          <p:cNvSpPr txBox="1"/>
          <p:nvPr/>
        </p:nvSpPr>
        <p:spPr>
          <a:xfrm>
            <a:off x="914400" y="46634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750" b="1">
                <a:solidFill>
                  <a:srgbClr val="2F855A"/>
                </a:solidFill>
                <a:latin typeface="Calibri"/>
              </a:rPr>
              <a:t>Cluster split: template overlap train/dev/test = 0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SeqGAN/full-sequence cu va ly do fail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Noise/condition -&gt; G sinh full payload -&gt; D real/fake -&gt; reward/loss</a:t>
            </a:r>
            <a:endParaRPr lang="en-US"/>
          </a:p>
        </p:txBody>
      </p:sp>
      <p:sp>
        <p:nvSpPr>
          <p:cNvPr id="70" name="Shape 70"/>
          <p:cNvSpPr/>
          <p:nvPr/>
        </p:nvSpPr>
        <p:spPr>
          <a:xfrm>
            <a:off x="640080" y="1828800"/>
            <a:ext cx="210312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Noise /
condition</a:t>
            </a:r>
            <a:endParaRPr lang="en-US"/>
          </a:p>
        </p:txBody>
      </p:sp>
      <p:sp>
        <p:nvSpPr>
          <p:cNvPr id="71" name="Shape 71"/>
          <p:cNvSpPr/>
          <p:nvPr/>
        </p:nvSpPr>
        <p:spPr>
          <a:xfrm>
            <a:off x="3337560" y="1828800"/>
            <a:ext cx="2103120" cy="77724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Generator
full payload</a:t>
            </a:r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6035040" y="1828800"/>
            <a:ext cx="2103120" cy="777240"/>
          </a:xfrm>
          <a:prstGeom prst="roundRect">
            <a:avLst/>
          </a:prstGeom>
          <a:solidFill>
            <a:srgbClr val="6B46C1"/>
          </a:solidFill>
          <a:ln w="19050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FFFFFF"/>
                </a:solidFill>
                <a:latin typeface="Calibri"/>
              </a:rPr>
              <a:t>Discriminator
real/fake</a:t>
            </a:r>
            <a:endParaRPr lang="en-US"/>
          </a:p>
        </p:txBody>
      </p:sp>
      <p:sp>
        <p:nvSpPr>
          <p:cNvPr id="73" name="Shape 73"/>
          <p:cNvSpPr/>
          <p:nvPr/>
        </p:nvSpPr>
        <p:spPr>
          <a:xfrm>
            <a:off x="8732520" y="1828800"/>
            <a:ext cx="2103120" cy="77724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Reward /
loss</a:t>
            </a:r>
            <a:endParaRPr lang="en-US"/>
          </a:p>
        </p:txBody>
      </p:sp>
      <p:cxnSp>
        <p:nvCxnSpPr>
          <p:cNvPr id="74" name="Arrow 74"/>
          <p:cNvCxnSpPr/>
          <p:nvPr/>
        </p:nvCxnSpPr>
        <p:spPr>
          <a:xfrm>
            <a:off x="2743200" y="2212848"/>
            <a:ext cx="594360" cy="1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>
        <p:nvCxnSpPr>
          <p:cNvPr id="75" name="Arrow 75"/>
          <p:cNvCxnSpPr/>
          <p:nvPr/>
        </p:nvCxnSpPr>
        <p:spPr>
          <a:xfrm>
            <a:off x="5440680" y="2212848"/>
            <a:ext cx="594360" cy="1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cxnSp>
        <p:nvCxnSpPr>
          <p:cNvPr id="76" name="Arrow 76"/>
          <p:cNvCxnSpPr/>
          <p:nvPr/>
        </p:nvCxnSpPr>
        <p:spPr>
          <a:xfrm>
            <a:off x="8138160" y="2212848"/>
            <a:ext cx="594360" cy="1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77" name="Text 77"/>
          <p:cNvSpPr txBox="1"/>
          <p:nvPr/>
        </p:nvSpPr>
        <p:spPr>
          <a:xfrm>
            <a:off x="914400" y="3429000"/>
            <a:ext cx="10058400" cy="1508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50">
                <a:solidFill>
                  <a:srgbClr val="111827"/>
                </a:solidFill>
                <a:latin typeface="Calibri"/>
              </a:rPr>
              <a:t>- Discrete token lam gradient cho G rat yeu.
- D qua manh, phan biet real/fake nhanh hon kha nang G hoc.
- G mat tin hieu, mode collapse; tuning WGAN-GP/SN/TTUR khong du gate.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Zoom 1 - Hiện trạng: H5' Paired Masked Surgery GAN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Đã làm: sinh slot/local token trong delex-frame, rồi đo với baseline và evaluator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000" name="Node 2000"/>
          <p:cNvSpPr/>
          <p:nvPr/>
        </p:nvSpPr>
        <p:spPr>
          <a:xfrm>
            <a:off x="502920" y="1417320"/>
            <a:ext cx="1600200" cy="685800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Delex frame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1" name="Node 2001"/>
          <p:cNvSpPr/>
          <p:nvPr/>
        </p:nvSpPr>
        <p:spPr>
          <a:xfrm>
            <a:off x="502920" y="2331720"/>
            <a:ext cx="1600200" cy="685800"/>
          </a:xfrm>
          <a:prstGeom prst="roundRect">
            <a:avLst/>
          </a:prstGeom>
          <a:solidFill>
            <a:srgbClr val="1A9BAA"/>
          </a:solidFill>
          <a:ln w="28575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Mask slot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2" name="Node 2002"/>
          <p:cNvSpPr/>
          <p:nvPr/>
        </p:nvSpPr>
        <p:spPr>
          <a:xfrm>
            <a:off x="502920" y="3246120"/>
            <a:ext cx="1600200" cy="685800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Condition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3" name="Node 2003"/>
          <p:cNvSpPr/>
          <p:nvPr/>
        </p:nvSpPr>
        <p:spPr>
          <a:xfrm>
            <a:off x="2880360" y="1325880"/>
            <a:ext cx="1600200" cy="56692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920" b="1">
                <a:solidFill>
                  <a:srgbClr val="FFFFFF"/>
                </a:solidFill>
                <a:latin typeface="Calibri"/>
              </a:rPr>
              <a:t>token emb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4" name="Node 2004"/>
          <p:cNvSpPr/>
          <p:nvPr/>
        </p:nvSpPr>
        <p:spPr>
          <a:xfrm>
            <a:off x="2880360" y="2057400"/>
            <a:ext cx="1600200" cy="56692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80" b="1">
                <a:solidFill>
                  <a:srgbClr val="FFFFFF"/>
                </a:solidFill>
                <a:latin typeface="Calibri"/>
              </a:rPr>
              <a:t>condition emb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5" name="Node 2005"/>
          <p:cNvSpPr/>
          <p:nvPr/>
        </p:nvSpPr>
        <p:spPr>
          <a:xfrm>
            <a:off x="2880360" y="2788920"/>
            <a:ext cx="1600200" cy="56692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80" b="1">
                <a:solidFill>
                  <a:srgbClr val="FFFFFF"/>
                </a:solidFill>
                <a:latin typeface="Calibri"/>
              </a:rPr>
              <a:t>position emb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6" name="Node 2006"/>
          <p:cNvSpPr/>
          <p:nvPr/>
        </p:nvSpPr>
        <p:spPr>
          <a:xfrm>
            <a:off x="4892040" y="2057400"/>
            <a:ext cx="1600200" cy="65836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Conv1D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7" name="Node 2007"/>
          <p:cNvSpPr/>
          <p:nvPr/>
        </p:nvSpPr>
        <p:spPr>
          <a:xfrm>
            <a:off x="6903720" y="2057400"/>
            <a:ext cx="1600200" cy="658368"/>
          </a:xfrm>
          <a:prstGeom prst="roundRect">
            <a:avLst/>
          </a:prstGeom>
          <a:solidFill>
            <a:srgbClr val="1A9BAA"/>
          </a:solidFill>
          <a:ln w="28575">
            <a:solidFill>
              <a:srgbClr val="1A9BA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50" b="1">
                <a:solidFill>
                  <a:srgbClr val="FFFFFF"/>
                </a:solidFill>
                <a:latin typeface="Calibri"/>
              </a:rPr>
              <a:t>linear head
-&gt; token dist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8" name="Node 2008"/>
          <p:cNvSpPr/>
          <p:nvPr/>
        </p:nvSpPr>
        <p:spPr>
          <a:xfrm>
            <a:off x="9144000" y="1325880"/>
            <a:ext cx="2057400" cy="658368"/>
          </a:xfrm>
          <a:prstGeom prst="roundRect">
            <a:avLst/>
          </a:prstGeom>
          <a:solidFill>
            <a:srgbClr val="6B46C1"/>
          </a:solidFill>
          <a:ln w="28575">
            <a:solidFill>
              <a:srgbClr val="6B46C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20" b="1">
                <a:solidFill>
                  <a:srgbClr val="FFFFFF"/>
                </a:solidFill>
                <a:latin typeface="Calibri"/>
              </a:rPr>
              <a:t>Paired D
real-fill vs fake-fill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09" name="Node 2009"/>
          <p:cNvSpPr/>
          <p:nvPr/>
        </p:nvSpPr>
        <p:spPr>
          <a:xfrm>
            <a:off x="9144000" y="2423160"/>
            <a:ext cx="2057400" cy="658368"/>
          </a:xfrm>
          <a:prstGeom prst="roundRect">
            <a:avLst/>
          </a:prstGeom>
          <a:solidFill>
            <a:srgbClr val="C05621"/>
          </a:solidFill>
          <a:ln w="28575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00" b="1">
                <a:solidFill>
                  <a:srgbClr val="FFFFFF"/>
                </a:solidFill>
                <a:latin typeface="Calibri"/>
              </a:rPr>
              <a:t>Evaluator
valid/novel/evasion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2010" name="Node 2010"/>
          <p:cNvSpPr/>
          <p:nvPr/>
        </p:nvSpPr>
        <p:spPr>
          <a:xfrm>
            <a:off x="9144000" y="3520440"/>
            <a:ext cx="2057400" cy="658368"/>
          </a:xfrm>
          <a:prstGeom prst="roundRect">
            <a:avLst/>
          </a:prstGeom>
          <a:solidFill>
            <a:srgbClr val="C53030"/>
          </a:solidFill>
          <a:ln w="28575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850" b="1">
                <a:solidFill>
                  <a:srgbClr val="FFFFFF"/>
                </a:solidFill>
                <a:latin typeface="Calibri"/>
              </a:rPr>
              <a:t>Gate result
GAN ~= baseline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2020" name="Arrow 2020"/>
          <p:cNvCxnSpPr/>
          <p:nvPr/>
        </p:nvCxnSpPr>
        <p:spPr>
          <a:xfrm flipV="1">
            <a:off x="2103120" y="1609344"/>
            <a:ext cx="777240" cy="146303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1" name="Arrow 2021"/>
          <p:cNvCxnSpPr/>
          <p:nvPr/>
        </p:nvCxnSpPr>
        <p:spPr>
          <a:xfrm flipV="1">
            <a:off x="2103120" y="2340864"/>
            <a:ext cx="777240" cy="329183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2" name="Arrow 2022"/>
          <p:cNvCxnSpPr/>
          <p:nvPr/>
        </p:nvCxnSpPr>
        <p:spPr>
          <a:xfrm flipV="1">
            <a:off x="2103120" y="3072384"/>
            <a:ext cx="777240" cy="512064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3" name="Arrow 2023"/>
          <p:cNvCxnSpPr/>
          <p:nvPr/>
        </p:nvCxnSpPr>
        <p:spPr>
          <a:xfrm>
            <a:off x="4480560" y="2340864"/>
            <a:ext cx="411479" cy="45719"/>
          </a:xfrm>
          <a:prstGeom prst="straightConnector1">
            <a:avLst/>
          </a:prstGeom>
          <a:ln w="28575">
            <a:solidFill>
              <a:srgbClr val="2B6CB0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4" name="Arrow 2024"/>
          <p:cNvCxnSpPr/>
          <p:nvPr/>
        </p:nvCxnSpPr>
        <p:spPr>
          <a:xfrm>
            <a:off x="6492240" y="2386584"/>
            <a:ext cx="411480" cy="1"/>
          </a:xfrm>
          <a:prstGeom prst="straightConnector1">
            <a:avLst/>
          </a:prstGeom>
          <a:ln w="28575">
            <a:solidFill>
              <a:srgbClr val="1A9BAA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5" name="Arrow 2025"/>
          <p:cNvCxnSpPr/>
          <p:nvPr/>
        </p:nvCxnSpPr>
        <p:spPr>
          <a:xfrm flipV="1">
            <a:off x="8503920" y="1645920"/>
            <a:ext cx="640079" cy="740663"/>
          </a:xfrm>
          <a:prstGeom prst="straightConnector1">
            <a:avLst/>
          </a:prstGeom>
          <a:ln w="28575">
            <a:solidFill>
              <a:srgbClr val="6B46C1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6" name="Arrow 2026"/>
          <p:cNvCxnSpPr/>
          <p:nvPr/>
        </p:nvCxnSpPr>
        <p:spPr>
          <a:xfrm>
            <a:off x="8503920" y="2386584"/>
            <a:ext cx="640079" cy="356616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2027" name="Arrow 2027"/>
          <p:cNvCxnSpPr/>
          <p:nvPr/>
        </p:nvCxnSpPr>
        <p:spPr>
          <a:xfrm>
            <a:off x="10149840" y="3081528"/>
            <a:ext cx="1" cy="438912"/>
          </a:xfrm>
          <a:prstGeom prst="straightConnector1">
            <a:avLst/>
          </a:prstGeom>
          <a:ln w="28575">
            <a:solidFill>
              <a:srgbClr val="C53030"/>
            </a:solidFill>
            <a:tailEnd type="none"/>
            <a:headEnd type="triangle"/>
          </a:ln>
        </p:spPr>
      </p:cxnSp>
      <p:sp>
        <p:nvSpPr>
          <p:cNvPr id="2028" name="Shape 2028"/>
          <p:cNvSpPr/>
          <p:nvPr/>
        </p:nvSpPr>
        <p:spPr>
          <a:xfrm>
            <a:off x="4434840" y="1463040"/>
            <a:ext cx="12344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G internals</a:t>
            </a:r>
            <a:endParaRPr lang="en-US"/>
          </a:p>
        </p:txBody>
      </p:sp>
      <p:sp>
        <p:nvSpPr>
          <p:cNvPr id="2029" name="Shape 2029"/>
          <p:cNvSpPr/>
          <p:nvPr/>
        </p:nvSpPr>
        <p:spPr>
          <a:xfrm>
            <a:off x="7818120" y="1234440"/>
            <a:ext cx="12344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so real/fake</a:t>
            </a:r>
            <a:endParaRPr lang="en-US"/>
          </a:p>
        </p:txBody>
      </p:sp>
      <p:sp>
        <p:nvSpPr>
          <p:cNvPr id="2030" name="Shape 2030"/>
          <p:cNvSpPr/>
          <p:nvPr/>
        </p:nvSpPr>
        <p:spPr>
          <a:xfrm>
            <a:off x="7818120" y="2907792"/>
            <a:ext cx="123444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C05621"/>
                </a:solidFill>
                <a:latin typeface="Calibri"/>
              </a:rPr>
              <a:t>tách trục đo</a:t>
            </a:r>
            <a:endParaRPr lang="en-US"/>
          </a:p>
        </p:txBody>
      </p:sp>
      <p:sp>
        <p:nvSpPr>
          <p:cNvPr id="2031" name="Shape 2031"/>
          <p:cNvSpPr/>
          <p:nvPr/>
        </p:nvSpPr>
        <p:spPr>
          <a:xfrm>
            <a:off x="777240" y="4572000"/>
            <a:ext cx="4754880" cy="566928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2F855A"/>
                </a:solidFill>
                <a:latin typeface="Calibri"/>
              </a:rPr>
              <a:t>Loss: L = anchor-CE + lambda*adv + entropy</a:t>
            </a:r>
            <a:endParaRPr lang="en-US"/>
          </a:p>
        </p:txBody>
      </p:sp>
      <p:sp>
        <p:nvSpPr>
          <p:cNvPr id="2032" name="Shape 2032"/>
          <p:cNvSpPr/>
          <p:nvPr/>
        </p:nvSpPr>
        <p:spPr>
          <a:xfrm>
            <a:off x="5989320" y="4434840"/>
            <a:ext cx="5074920" cy="7772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C53030"/>
                </a:solidFill>
                <a:latin typeface="Calibri"/>
              </a:rPr>
              <a:t>Gate: anchor 0.0050; mutation 0.0000; H5' 0.0000-0.0050
=&gt; adversarial contribution ~= 0; delex oracle AUC ~= 1.0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Baseline da trien khai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GAN phai vuot baseline moi duoc claim co dong gop</a:t>
            </a:r>
            <a:endParaRPr lang="en-US"/>
          </a:p>
        </p:txBody>
      </p:sp>
      <p:sp>
        <p:nvSpPr>
          <p:cNvPr id="140" name="Shape 140"/>
          <p:cNvSpPr/>
          <p:nvPr/>
        </p:nvSpPr>
        <p:spPr>
          <a:xfrm>
            <a:off x="1005840" y="1600200"/>
            <a:ext cx="3931920" cy="1325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Anchor-only
Supervised slot infill
Khong adversarial</a:t>
            </a:r>
            <a:endParaRPr lang="en-US"/>
          </a:p>
        </p:txBody>
      </p:sp>
      <p:sp>
        <p:nvSpPr>
          <p:cNvPr id="141" name="Shape 141"/>
          <p:cNvSpPr/>
          <p:nvPr/>
        </p:nvSpPr>
        <p:spPr>
          <a:xfrm>
            <a:off x="6400800" y="1600200"/>
            <a:ext cx="3931920" cy="1325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Calibri"/>
              </a:rPr>
              <a:t>Mutation-engine
Rule-based mutation
Khong hoc</a:t>
            </a:r>
            <a:endParaRPr lang="en-US"/>
          </a:p>
        </p:txBody>
      </p:sp>
      <p:sp>
        <p:nvSpPr>
          <p:cNvPr id="142" name="Text 142"/>
          <p:cNvSpPr txBox="1"/>
          <p:nvPr/>
        </p:nvSpPr>
        <p:spPr>
          <a:xfrm>
            <a:off x="914400" y="4069080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50" b="1">
                <a:solidFill>
                  <a:srgbClr val="C53030"/>
                </a:solidFill>
                <a:latin typeface="Calibri"/>
              </a:rPr>
              <a:t>Vai tro baseline: neu GAN khong vuot hai moc nay, khong claim GAN tao evasion/robustness rieng.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Evaluator/WAF architecture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Candidate duoc cham tren nhieu truc, khong chi bang D-score</a:t>
            </a:r>
            <a:endParaRPr lang="en-US"/>
          </a:p>
        </p:txBody>
      </p:sp>
      <p:sp>
        <p:nvSpPr>
          <p:cNvPr id="150" name="Shape 150"/>
          <p:cNvSpPr/>
          <p:nvPr/>
        </p:nvSpPr>
        <p:spPr>
          <a:xfrm>
            <a:off x="548640" y="2240280"/>
            <a:ext cx="1920240" cy="73152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Candidate</a:t>
            </a:r>
            <a:endParaRPr lang="en-US"/>
          </a:p>
        </p:txBody>
      </p:sp>
      <p:sp>
        <p:nvSpPr>
          <p:cNvPr id="151" name="Shape 151"/>
          <p:cNvSpPr/>
          <p:nvPr/>
        </p:nvSpPr>
        <p:spPr>
          <a:xfrm>
            <a:off x="3154680" y="1143000"/>
            <a:ext cx="210312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Validity</a:t>
            </a:r>
            <a:endParaRPr lang="en-US"/>
          </a:p>
        </p:txBody>
      </p:sp>
      <p:sp>
        <p:nvSpPr>
          <p:cNvPr id="152" name="Shape 152"/>
          <p:cNvSpPr/>
          <p:nvPr/>
        </p:nvSpPr>
        <p:spPr>
          <a:xfrm>
            <a:off x="3154680" y="2057400"/>
            <a:ext cx="210312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Novelty</a:t>
            </a:r>
            <a:endParaRPr lang="en-US"/>
          </a:p>
        </p:txBody>
      </p:sp>
      <p:sp>
        <p:nvSpPr>
          <p:cNvPr id="153" name="Shape 153"/>
          <p:cNvSpPr/>
          <p:nvPr/>
        </p:nvSpPr>
        <p:spPr>
          <a:xfrm>
            <a:off x="3154680" y="2971800"/>
            <a:ext cx="210312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111827"/>
                </a:solidFill>
                <a:latin typeface="Calibri"/>
              </a:rPr>
              <a:t>Technique debug</a:t>
            </a:r>
            <a:endParaRPr lang="en-US"/>
          </a:p>
        </p:txBody>
      </p:sp>
      <p:sp>
        <p:nvSpPr>
          <p:cNvPr id="154" name="Shape 154"/>
          <p:cNvSpPr/>
          <p:nvPr/>
        </p:nvSpPr>
        <p:spPr>
          <a:xfrm>
            <a:off x="3154680" y="3886200"/>
            <a:ext cx="2103120" cy="6858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Calibri"/>
              </a:rPr>
              <a:t>Evasion oracle</a:t>
            </a:r>
            <a:endParaRPr lang="en-US"/>
          </a:p>
        </p:txBody>
      </p:sp>
      <p:sp>
        <p:nvSpPr>
          <p:cNvPr id="155" name="Shape 155"/>
          <p:cNvSpPr/>
          <p:nvPr/>
        </p:nvSpPr>
        <p:spPr>
          <a:xfrm>
            <a:off x="6537960" y="2240280"/>
            <a:ext cx="2148840" cy="73152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WAF / Detector
result</a:t>
            </a:r>
            <a:endParaRPr lang="en-US"/>
          </a:p>
        </p:txBody>
      </p:sp>
      <p:sp>
        <p:nvSpPr>
          <p:cNvPr id="156" name="Shape 156"/>
          <p:cNvSpPr/>
          <p:nvPr/>
        </p:nvSpPr>
        <p:spPr>
          <a:xfrm>
            <a:off x="9646920" y="2240280"/>
            <a:ext cx="1645920" cy="73152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Report
score</a:t>
            </a:r>
            <a:endParaRPr lang="en-US"/>
          </a:p>
        </p:txBody>
      </p:sp>
      <p:cxnSp>
        <p:nvCxnSpPr>
          <p:cNvPr id="157" name="Arrow 157"/>
          <p:cNvCxnSpPr/>
          <p:nvPr/>
        </p:nvCxnSpPr>
        <p:spPr>
          <a:xfrm flipV="1">
            <a:off x="2468880" y="1481328"/>
            <a:ext cx="685800" cy="1124712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58" name="Arrow 158"/>
          <p:cNvCxnSpPr/>
          <p:nvPr/>
        </p:nvCxnSpPr>
        <p:spPr>
          <a:xfrm flipV="1">
            <a:off x="2468880" y="2395728"/>
            <a:ext cx="685800" cy="210312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59" name="Arrow 159"/>
          <p:cNvCxnSpPr/>
          <p:nvPr/>
        </p:nvCxnSpPr>
        <p:spPr>
          <a:xfrm>
            <a:off x="2468880" y="2606040"/>
            <a:ext cx="685800" cy="704088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>
        <p:nvCxnSpPr>
          <p:cNvPr id="160" name="Arrow 160"/>
          <p:cNvCxnSpPr/>
          <p:nvPr/>
        </p:nvCxnSpPr>
        <p:spPr>
          <a:xfrm>
            <a:off x="2468880" y="2606040"/>
            <a:ext cx="685800" cy="1618488"/>
          </a:xfrm>
          <a:prstGeom prst="straightConnector1">
            <a:avLst/>
          </a:prstGeom>
          <a:ln w="28575">
            <a:solidFill>
              <a:srgbClr val="C53030"/>
            </a:solidFill>
            <a:tailEnd type="none"/>
            <a:headEnd type="triangle"/>
          </a:ln>
        </p:spPr>
      </p:cxnSp>
      <p:cxnSp>
        <p:nvCxnSpPr>
          <p:cNvPr id="161" name="Arrow 161"/>
          <p:cNvCxnSpPr/>
          <p:nvPr/>
        </p:nvCxnSpPr>
        <p:spPr>
          <a:xfrm flipV="1">
            <a:off x="5257800" y="2606040"/>
            <a:ext cx="1280160" cy="1618488"/>
          </a:xfrm>
          <a:prstGeom prst="straightConnector1">
            <a:avLst/>
          </a:prstGeom>
          <a:ln w="28575">
            <a:solidFill>
              <a:srgbClr val="C05621"/>
            </a:solidFill>
            <a:tailEnd type="none"/>
            <a:headEnd type="triangle"/>
          </a:ln>
        </p:spPr>
      </p:cxnSp>
      <p:cxnSp>
        <p:nvCxnSpPr>
          <p:cNvPr id="162" name="Arrow 162"/>
          <p:cNvCxnSpPr/>
          <p:nvPr/>
        </p:nvCxnSpPr>
        <p:spPr>
          <a:xfrm>
            <a:off x="8686800" y="2606040"/>
            <a:ext cx="960120" cy="1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sp>
        <p:nvSpPr>
          <p:cNvPr id="163" name="Text 163"/>
          <p:cNvSpPr txBox="1"/>
          <p:nvPr/>
        </p:nvSpPr>
        <p:spPr>
          <a:xfrm>
            <a:off x="822960" y="498348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250" b="1">
                <a:solidFill>
                  <a:srgbClr val="4A5568"/>
                </a:solidFill>
                <a:latin typeface="Calibri"/>
              </a:rPr>
              <a:t>Evasion chi tinh khi co detector/WAF result; technique hint chi dung de debug.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Reward/score dung o dau?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WAF/evaluator score -&gt; rerank/select; hoac policy update trong real-space</a:t>
            </a:r>
            <a:endParaRPr lang="en-US"/>
          </a:p>
        </p:txBody>
      </p:sp>
      <p:sp>
        <p:nvSpPr>
          <p:cNvPr id="170" name="Shape 170"/>
          <p:cNvSpPr/>
          <p:nvPr/>
        </p:nvSpPr>
        <p:spPr>
          <a:xfrm>
            <a:off x="685800" y="1920240"/>
            <a:ext cx="2331720" cy="77724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20" b="1">
                <a:solidFill>
                  <a:srgbClr val="FFFFFF"/>
                </a:solidFill>
                <a:latin typeface="Calibri"/>
              </a:rPr>
              <a:t>WAF / Evaluator
score</a:t>
            </a:r>
            <a:endParaRPr lang="en-US"/>
          </a:p>
        </p:txBody>
      </p:sp>
      <p:sp>
        <p:nvSpPr>
          <p:cNvPr id="171" name="Shape 171"/>
          <p:cNvSpPr/>
          <p:nvPr/>
        </p:nvSpPr>
        <p:spPr>
          <a:xfrm>
            <a:off x="3886200" y="1234440"/>
            <a:ext cx="2560320" cy="73152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80" b="1">
                <a:solidFill>
                  <a:srgbClr val="FFFFFF"/>
                </a:solidFill>
                <a:latin typeface="Calibri"/>
              </a:rPr>
              <a:t>Rerank /
select</a:t>
            </a:r>
            <a:endParaRPr lang="en-US"/>
          </a:p>
        </p:txBody>
      </p:sp>
      <p:sp>
        <p:nvSpPr>
          <p:cNvPr id="172" name="Shape 172"/>
          <p:cNvSpPr/>
          <p:nvPr/>
        </p:nvSpPr>
        <p:spPr>
          <a:xfrm>
            <a:off x="3886200" y="2788920"/>
            <a:ext cx="2560320" cy="73152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80" b="1">
                <a:solidFill>
                  <a:srgbClr val="FFFFFF"/>
                </a:solidFill>
                <a:latin typeface="Calibri"/>
              </a:rPr>
              <a:t>Policy update
neu real-space</a:t>
            </a:r>
            <a:endParaRPr lang="en-US"/>
          </a:p>
        </p:txBody>
      </p:sp>
      <p:sp>
        <p:nvSpPr>
          <p:cNvPr id="173" name="Shape 173"/>
          <p:cNvSpPr/>
          <p:nvPr/>
        </p:nvSpPr>
        <p:spPr>
          <a:xfrm>
            <a:off x="7498079" y="1234440"/>
            <a:ext cx="3383280" cy="7315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111827"/>
                </a:solidFill>
                <a:latin typeface="Calibri"/>
              </a:rPr>
              <a:t>valid + novel + not detected = cao</a:t>
            </a:r>
            <a:endParaRPr lang="en-US"/>
          </a:p>
        </p:txBody>
      </p:sp>
      <p:sp>
        <p:nvSpPr>
          <p:cNvPr id="174" name="Shape 174"/>
          <p:cNvSpPr/>
          <p:nvPr/>
        </p:nvSpPr>
        <p:spPr>
          <a:xfrm>
            <a:off x="7498079" y="2240280"/>
            <a:ext cx="3383280" cy="7315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invalid = am</a:t>
            </a:r>
            <a:endParaRPr lang="en-US"/>
          </a:p>
        </p:txBody>
      </p:sp>
      <p:sp>
        <p:nvSpPr>
          <p:cNvPr id="175" name="Shape 175"/>
          <p:cNvSpPr/>
          <p:nvPr/>
        </p:nvSpPr>
        <p:spPr>
          <a:xfrm>
            <a:off x="7498079" y="3246120"/>
            <a:ext cx="3383280" cy="73152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Calibri"/>
              </a:rPr>
              <a:t>detected = thap</a:t>
            </a:r>
            <a:endParaRPr lang="en-US"/>
          </a:p>
        </p:txBody>
      </p:sp>
      <p:cxnSp>
        <p:nvCxnSpPr>
          <p:cNvPr id="176" name="Arrow 176"/>
          <p:cNvCxnSpPr/>
          <p:nvPr/>
        </p:nvCxnSpPr>
        <p:spPr>
          <a:xfrm flipV="1">
            <a:off x="3017520" y="1600200"/>
            <a:ext cx="868680" cy="704088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77" name="Arrow 177"/>
          <p:cNvCxnSpPr/>
          <p:nvPr/>
        </p:nvCxnSpPr>
        <p:spPr>
          <a:xfrm>
            <a:off x="3017520" y="2304288"/>
            <a:ext cx="868680" cy="850392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78" name="Arrow 178"/>
          <p:cNvCxnSpPr/>
          <p:nvPr/>
        </p:nvCxnSpPr>
        <p:spPr>
          <a:xfrm>
            <a:off x="6446520" y="1600200"/>
            <a:ext cx="1051559" cy="1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  <p:cxnSp>
        <p:nvCxnSpPr>
          <p:cNvPr id="179" name="Arrow 179"/>
          <p:cNvCxnSpPr/>
          <p:nvPr/>
        </p:nvCxnSpPr>
        <p:spPr>
          <a:xfrm>
            <a:off x="6446520" y="3154680"/>
            <a:ext cx="1051559" cy="457200"/>
          </a:xfrm>
          <a:prstGeom prst="straightConnector1">
            <a:avLst/>
          </a:prstGeom>
          <a:ln w="28575">
            <a:solidFill>
              <a:srgbClr val="2F855A"/>
            </a:solidFill>
            <a:tailEnd type="none"/>
            <a:headEnd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Ket qua H5': gate fail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Classifier-oracle bypass cho thay adversarial contribution gan bang 0</a:t>
            </a:r>
            <a:endParaRPr lang="en-US"/>
          </a:p>
        </p:txBody>
      </p:sp>
      <p:sp>
        <p:nvSpPr>
          <p:cNvPr id="190" name="Shape 190"/>
          <p:cNvSpPr/>
          <p:nvPr/>
        </p:nvSpPr>
        <p:spPr>
          <a:xfrm>
            <a:off x="1188720" y="1234440"/>
            <a:ext cx="3383280" cy="50292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Method</a:t>
            </a:r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4572000" y="1234440"/>
            <a:ext cx="2834640" cy="50292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Role</a:t>
            </a:r>
            <a:endParaRPr lang="en-US"/>
          </a:p>
        </p:txBody>
      </p:sp>
      <p:sp>
        <p:nvSpPr>
          <p:cNvPr id="192" name="Shape 192"/>
          <p:cNvSpPr/>
          <p:nvPr/>
        </p:nvSpPr>
        <p:spPr>
          <a:xfrm>
            <a:off x="7406640" y="1234440"/>
            <a:ext cx="3017520" cy="50292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Classifier-oracle bypass</a:t>
            </a:r>
            <a:endParaRPr lang="en-US"/>
          </a:p>
        </p:txBody>
      </p:sp>
      <p:sp>
        <p:nvSpPr>
          <p:cNvPr id="193" name="Shape 193"/>
          <p:cNvSpPr/>
          <p:nvPr/>
        </p:nvSpPr>
        <p:spPr>
          <a:xfrm>
            <a:off x="1188720" y="1737360"/>
            <a:ext cx="33832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Anchor-only</a:t>
            </a:r>
            <a:endParaRPr lang="en-US"/>
          </a:p>
        </p:txBody>
      </p:sp>
      <p:sp>
        <p:nvSpPr>
          <p:cNvPr id="194" name="Shape 194"/>
          <p:cNvSpPr/>
          <p:nvPr/>
        </p:nvSpPr>
        <p:spPr>
          <a:xfrm>
            <a:off x="4572000" y="1737360"/>
            <a:ext cx="2834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supervised</a:t>
            </a:r>
            <a:endParaRPr lang="en-US"/>
          </a:p>
        </p:txBody>
      </p:sp>
      <p:sp>
        <p:nvSpPr>
          <p:cNvPr id="195" name="Shape 195"/>
          <p:cNvSpPr/>
          <p:nvPr/>
        </p:nvSpPr>
        <p:spPr>
          <a:xfrm>
            <a:off x="7406640" y="1737360"/>
            <a:ext cx="30175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0.0050</a:t>
            </a:r>
            <a:endParaRPr lang="en-US"/>
          </a:p>
        </p:txBody>
      </p:sp>
      <p:sp>
        <p:nvSpPr>
          <p:cNvPr id="196" name="Shape 196"/>
          <p:cNvSpPr/>
          <p:nvPr/>
        </p:nvSpPr>
        <p:spPr>
          <a:xfrm>
            <a:off x="1188720" y="2240280"/>
            <a:ext cx="338328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Mutation-engine</a:t>
            </a:r>
            <a:endParaRPr lang="en-US"/>
          </a:p>
        </p:txBody>
      </p:sp>
      <p:sp>
        <p:nvSpPr>
          <p:cNvPr id="197" name="Shape 197"/>
          <p:cNvSpPr/>
          <p:nvPr/>
        </p:nvSpPr>
        <p:spPr>
          <a:xfrm>
            <a:off x="4572000" y="2240280"/>
            <a:ext cx="283464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rule-based</a:t>
            </a:r>
            <a:endParaRPr lang="en-US"/>
          </a:p>
        </p:txBody>
      </p:sp>
      <p:sp>
        <p:nvSpPr>
          <p:cNvPr id="198" name="Shape 198"/>
          <p:cNvSpPr/>
          <p:nvPr/>
        </p:nvSpPr>
        <p:spPr>
          <a:xfrm>
            <a:off x="7406640" y="2240280"/>
            <a:ext cx="301752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0.0000</a:t>
            </a:r>
            <a:endParaRPr lang="en-US"/>
          </a:p>
        </p:txBody>
      </p:sp>
      <p:sp>
        <p:nvSpPr>
          <p:cNvPr id="199" name="Shape 199"/>
          <p:cNvSpPr/>
          <p:nvPr/>
        </p:nvSpPr>
        <p:spPr>
          <a:xfrm>
            <a:off x="1188720" y="2743200"/>
            <a:ext cx="33832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H5' max-local</a:t>
            </a:r>
            <a:endParaRPr lang="en-US"/>
          </a:p>
        </p:txBody>
      </p:sp>
      <p:sp>
        <p:nvSpPr>
          <p:cNvPr id="200" name="Shape 200"/>
          <p:cNvSpPr/>
          <p:nvPr/>
        </p:nvSpPr>
        <p:spPr>
          <a:xfrm>
            <a:off x="4572000" y="2743200"/>
            <a:ext cx="2834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GAN</a:t>
            </a:r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7406640" y="2743200"/>
            <a:ext cx="30175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0.0000</a:t>
            </a:r>
            <a:endParaRPr lang="en-US"/>
          </a:p>
        </p:txBody>
      </p:sp>
      <p:sp>
        <p:nvSpPr>
          <p:cNvPr id="202" name="Shape 202"/>
          <p:cNvSpPr/>
          <p:nvPr/>
        </p:nvSpPr>
        <p:spPr>
          <a:xfrm>
            <a:off x="1188720" y="3246120"/>
            <a:ext cx="338328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H5' max-aggressive</a:t>
            </a:r>
            <a:endParaRPr lang="en-US"/>
          </a:p>
        </p:txBody>
      </p:sp>
      <p:sp>
        <p:nvSpPr>
          <p:cNvPr id="203" name="Shape 203"/>
          <p:cNvSpPr/>
          <p:nvPr/>
        </p:nvSpPr>
        <p:spPr>
          <a:xfrm>
            <a:off x="4572000" y="3246120"/>
            <a:ext cx="283464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GAN</a:t>
            </a:r>
            <a:endParaRPr lang="en-US"/>
          </a:p>
        </p:txBody>
      </p:sp>
      <p:sp>
        <p:nvSpPr>
          <p:cNvPr id="204" name="Shape 204"/>
          <p:cNvSpPr/>
          <p:nvPr/>
        </p:nvSpPr>
        <p:spPr>
          <a:xfrm>
            <a:off x="7406640" y="3246120"/>
            <a:ext cx="3017520" cy="50292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0.0050</a:t>
            </a:r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1188720" y="3749039"/>
            <a:ext cx="33832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Oracle-aware search</a:t>
            </a:r>
            <a:endParaRPr lang="en-US"/>
          </a:p>
        </p:txBody>
      </p:sp>
      <p:sp>
        <p:nvSpPr>
          <p:cNvPr id="206" name="Shape 206"/>
          <p:cNvSpPr/>
          <p:nvPr/>
        </p:nvSpPr>
        <p:spPr>
          <a:xfrm>
            <a:off x="4572000" y="3749039"/>
            <a:ext cx="2834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post-process</a:t>
            </a:r>
            <a:endParaRPr lang="en-US"/>
          </a:p>
        </p:txBody>
      </p:sp>
      <p:sp>
        <p:nvSpPr>
          <p:cNvPr id="207" name="Shape 207"/>
          <p:cNvSpPr/>
          <p:nvPr/>
        </p:nvSpPr>
        <p:spPr>
          <a:xfrm>
            <a:off x="7406640" y="3749039"/>
            <a:ext cx="30175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0.0050</a:t>
            </a:r>
            <a:endParaRPr lang="en-US"/>
          </a:p>
        </p:txBody>
      </p:sp>
      <p:sp>
        <p:nvSpPr>
          <p:cNvPr id="215" name="Shape 215"/>
          <p:cNvSpPr/>
          <p:nvPr/>
        </p:nvSpPr>
        <p:spPr>
          <a:xfrm>
            <a:off x="1417320" y="4800600"/>
            <a:ext cx="9144000" cy="658368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</a:rPr>
              <a:t>Ket luan: adversarial contribution ~= 0; khong claim GAN generator vuot baseline.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Vi sao delex-space khong do evasion that?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Delex tot cho schema, nhung xoa nhieu tin hieu be mat cua WAF</a:t>
            </a:r>
            <a:endParaRPr lang="en-US"/>
          </a:p>
        </p:txBody>
      </p:sp>
      <p:sp>
        <p:nvSpPr>
          <p:cNvPr id="220" name="Shape 220"/>
          <p:cNvSpPr/>
          <p:nvPr/>
        </p:nvSpPr>
        <p:spPr>
          <a:xfrm>
            <a:off x="777240" y="1600200"/>
            <a:ext cx="2926080" cy="86868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Delex removes
case/comment/encoding/literal</a:t>
            </a:r>
            <a:endParaRPr lang="en-US"/>
          </a:p>
        </p:txBody>
      </p:sp>
      <p:sp>
        <p:nvSpPr>
          <p:cNvPr id="221" name="Shape 221"/>
          <p:cNvSpPr/>
          <p:nvPr/>
        </p:nvSpPr>
        <p:spPr>
          <a:xfrm>
            <a:off x="4617720" y="1600200"/>
            <a:ext cx="2926080" cy="868680"/>
          </a:xfrm>
          <a:prstGeom prst="roundRect">
            <a:avLst/>
          </a:prstGeom>
          <a:solidFill>
            <a:srgbClr val="C05621"/>
          </a:solidFill>
          <a:ln w="19050">
            <a:solidFill>
              <a:srgbClr val="C05621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Calibri"/>
              </a:rPr>
              <a:t>Classifier oracle
AUC ~ 1.0</a:t>
            </a:r>
            <a:endParaRPr lang="en-US"/>
          </a:p>
        </p:txBody>
      </p:sp>
      <p:sp>
        <p:nvSpPr>
          <p:cNvPr id="222" name="Shape 222"/>
          <p:cNvSpPr/>
          <p:nvPr/>
        </p:nvSpPr>
        <p:spPr>
          <a:xfrm>
            <a:off x="8458200" y="1600200"/>
            <a:ext cx="2926080" cy="86868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Need real-space
rehydrate + WAF</a:t>
            </a:r>
            <a:endParaRPr lang="en-US"/>
          </a:p>
        </p:txBody>
      </p:sp>
      <p:cxnSp>
        <p:nvCxnSpPr>
          <p:cNvPr id="223" name="Arrow 223"/>
          <p:cNvCxnSpPr/>
          <p:nvPr/>
        </p:nvCxnSpPr>
        <p:spPr>
          <a:xfrm>
            <a:off x="3703320" y="2029968"/>
            <a:ext cx="914400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cxnSp>
        <p:nvCxnSpPr>
          <p:cNvPr id="224" name="Arrow 224"/>
          <p:cNvCxnSpPr/>
          <p:nvPr/>
        </p:nvCxnSpPr>
        <p:spPr>
          <a:xfrm>
            <a:off x="7543800" y="2029968"/>
            <a:ext cx="914400" cy="1"/>
          </a:xfrm>
          <a:prstGeom prst="straightConnector1">
            <a:avLst/>
          </a:prstGeom>
          <a:ln w="28575">
            <a:solidFill>
              <a:srgbClr val="4A5568"/>
            </a:solidFill>
            <a:tailEnd type="none"/>
            <a:headEnd type="triangle"/>
          </a:ln>
        </p:spPr>
      </p:cxnSp>
      <p:sp>
        <p:nvSpPr>
          <p:cNvPr id="225" name="Text 225"/>
          <p:cNvSpPr txBox="1"/>
          <p:nvPr/>
        </p:nvSpPr>
        <p:spPr>
          <a:xfrm>
            <a:off x="1005840" y="3291840"/>
            <a:ext cx="1005840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50">
                <a:solidFill>
                  <a:srgbClr val="111827"/>
                </a:solidFill>
                <a:latin typeface="Calibri"/>
              </a:rPr>
              <a:t>- Evasion that nam o surface form: comment, whitespace, encoding, casing, literals.
- Do do can rehydrate payload ve real-space roi cham bang libinjection/local WAF/detector.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Zoom 2 - Tương lai 1: GAN-as-Augmentation-Engine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Phòng thủ: dùng GAN để tạo training data khó hơn, đo bằng detector robustness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000" name="Node 3000"/>
          <p:cNvSpPr/>
          <p:nvPr/>
        </p:nvSpPr>
        <p:spPr>
          <a:xfrm>
            <a:off x="594360" y="2103120"/>
            <a:ext cx="1645920" cy="713232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150" b="1">
                <a:solidFill>
                  <a:srgbClr val="FFFFFF"/>
                </a:solidFill>
                <a:latin typeface="Calibri"/>
              </a:rPr>
              <a:t>Train gốc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1" name="Node 3001"/>
          <p:cNvSpPr/>
          <p:nvPr/>
        </p:nvSpPr>
        <p:spPr>
          <a:xfrm>
            <a:off x="2743200" y="2103120"/>
            <a:ext cx="1828800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B6CB0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2B6CB0"/>
                </a:solidFill>
                <a:latin typeface="Calibri"/>
              </a:rPr>
              <a:t>GAN sinh
biến thể đa dạng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2" name="Node 3002"/>
          <p:cNvSpPr/>
          <p:nvPr/>
        </p:nvSpPr>
        <p:spPr>
          <a:xfrm>
            <a:off x="5166360" y="2103120"/>
            <a:ext cx="1874519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40" b="1">
                <a:solidFill>
                  <a:srgbClr val="2F855A"/>
                </a:solidFill>
                <a:latin typeface="Calibri"/>
              </a:rPr>
              <a:t>Tập tăng
cường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3" name="Node 3003"/>
          <p:cNvSpPr/>
          <p:nvPr/>
        </p:nvSpPr>
        <p:spPr>
          <a:xfrm>
            <a:off x="7635240" y="2103120"/>
            <a:ext cx="1737360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6B46C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80" b="1">
                <a:solidFill>
                  <a:srgbClr val="6B46C1"/>
                </a:solidFill>
                <a:latin typeface="Calibri"/>
              </a:rPr>
              <a:t>Train
Detector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3004" name="Node 3004"/>
          <p:cNvSpPr/>
          <p:nvPr/>
        </p:nvSpPr>
        <p:spPr>
          <a:xfrm>
            <a:off x="9966960" y="2103120"/>
            <a:ext cx="1417320" cy="71323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C0562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00" b="1">
                <a:solidFill>
                  <a:srgbClr val="C05621"/>
                </a:solidFill>
                <a:latin typeface="Calibri"/>
              </a:rPr>
              <a:t>Held-out +
adversarial test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3010" name="Arrow 3010"/>
          <p:cNvCxnSpPr/>
          <p:nvPr/>
        </p:nvCxnSpPr>
        <p:spPr>
          <a:xfrm>
            <a:off x="2240280" y="2459736"/>
            <a:ext cx="502919" cy="1"/>
          </a:xfrm>
          <a:prstGeom prst="straightConnector1">
            <a:avLst/>
          </a:prstGeom>
          <a:ln w="28575">
            <a:solidFill>
              <a:srgbClr val="2B6CB0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3011" name="Arrow 3011"/>
          <p:cNvCxnSpPr/>
          <p:nvPr/>
        </p:nvCxnSpPr>
        <p:spPr>
          <a:xfrm>
            <a:off x="4572000" y="2459736"/>
            <a:ext cx="594360" cy="1"/>
          </a:xfrm>
          <a:prstGeom prst="straightConnector1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3012" name="Arrow 3012"/>
          <p:cNvCxnSpPr/>
          <p:nvPr/>
        </p:nvCxnSpPr>
        <p:spPr>
          <a:xfrm>
            <a:off x="7040880" y="2459736"/>
            <a:ext cx="594359" cy="1"/>
          </a:xfrm>
          <a:prstGeom prst="straightConnector1">
            <a:avLst/>
          </a:prstGeom>
          <a:ln w="28575">
            <a:solidFill>
              <a:srgbClr val="6B46C1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3013" name="Arrow 3013"/>
          <p:cNvCxnSpPr/>
          <p:nvPr/>
        </p:nvCxnSpPr>
        <p:spPr>
          <a:xfrm>
            <a:off x="9372600" y="2459736"/>
            <a:ext cx="594360" cy="1"/>
          </a:xfrm>
          <a:prstGeom prst="straightConnector1">
            <a:avLst/>
          </a:prstGeom>
          <a:ln w="28575">
            <a:solidFill>
              <a:srgbClr val="C05621"/>
            </a:solidFill>
            <a:prstDash val="dash"/>
            <a:tailEnd type="none"/>
            <a:headEnd type="triangle"/>
          </a:ln>
        </p:spPr>
      </p:cxnSp>
      <p:sp>
        <p:nvSpPr>
          <p:cNvPr id="3014" name="Shape 3014"/>
          <p:cNvSpPr/>
          <p:nvPr/>
        </p:nvSpPr>
        <p:spPr>
          <a:xfrm>
            <a:off x="2331720" y="1691640"/>
            <a:ext cx="9144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augment</a:t>
            </a:r>
            <a:endParaRPr lang="en-US"/>
          </a:p>
        </p:txBody>
      </p:sp>
      <p:sp>
        <p:nvSpPr>
          <p:cNvPr id="3015" name="Shape 3015"/>
          <p:cNvSpPr/>
          <p:nvPr/>
        </p:nvSpPr>
        <p:spPr>
          <a:xfrm>
            <a:off x="4572000" y="1691640"/>
            <a:ext cx="91440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gắn nhãn</a:t>
            </a:r>
            <a:endParaRPr lang="en-US"/>
          </a:p>
        </p:txBody>
      </p:sp>
      <p:sp>
        <p:nvSpPr>
          <p:cNvPr id="3016" name="Shape 3016"/>
          <p:cNvSpPr/>
          <p:nvPr/>
        </p:nvSpPr>
        <p:spPr>
          <a:xfrm>
            <a:off x="7086600" y="1691640"/>
            <a:ext cx="13258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6B46C1"/>
                </a:solidFill>
                <a:latin typeface="Calibri"/>
              </a:rPr>
              <a:t>học robust hơn</a:t>
            </a:r>
            <a:endParaRPr lang="en-US"/>
          </a:p>
        </p:txBody>
      </p:sp>
      <p:sp>
        <p:nvSpPr>
          <p:cNvPr id="3017" name="Text 3017"/>
          <p:cNvSpPr txBox="1"/>
          <p:nvPr/>
        </p:nvSpPr>
        <p:spPr>
          <a:xfrm>
            <a:off x="914400" y="38862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Calibri"/>
              </a:rPr>
              <a:t>So sánh: D0 no aug | D1 mutation aug | D2 GAN aug | D3 mutation + GAN</a:t>
            </a:r>
            <a:endParaRPr lang="en-US"/>
          </a:p>
        </p:txBody>
      </p:sp>
      <p:sp>
        <p:nvSpPr>
          <p:cNvPr id="3018" name="Shape 3018"/>
          <p:cNvSpPr/>
          <p:nvPr/>
        </p:nvSpPr>
        <p:spPr>
          <a:xfrm>
            <a:off x="1371600" y="4617720"/>
            <a:ext cx="9052560" cy="54864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00" b="1">
                <a:solidFill>
                  <a:srgbClr val="2F855A"/>
                </a:solidFill>
                <a:latin typeface="Calibri"/>
              </a:rPr>
              <a:t>Metrics: recall | F1 | FPR benign | robustness delta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Zoom 3 - Tương lai 2: GAN-as-Real-Space Policy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Tấn công thật: reward từ WAF/libinjection quay về policy G trong vòng kín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000" name="Node 4000"/>
          <p:cNvSpPr/>
          <p:nvPr/>
        </p:nvSpPr>
        <p:spPr>
          <a:xfrm>
            <a:off x="365760" y="1920240"/>
            <a:ext cx="1417320" cy="658368"/>
          </a:xfrm>
          <a:prstGeom prst="roundRect">
            <a:avLst/>
          </a:prstGeom>
          <a:solidFill>
            <a:srgbClr val="2B6CB0"/>
          </a:solidFill>
          <a:ln w="28575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vi-VN" sz="1050" b="1">
                <a:solidFill>
                  <a:srgbClr val="FFFFFF"/>
                </a:solidFill>
                <a:latin typeface="Calibri"/>
              </a:rPr>
              <a:t>Delex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1" name="Node 4001"/>
          <p:cNvSpPr/>
          <p:nvPr/>
        </p:nvSpPr>
        <p:spPr>
          <a:xfrm>
            <a:off x="2148840" y="1920240"/>
            <a:ext cx="160020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1A9BA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20" b="1">
                <a:solidFill>
                  <a:srgbClr val="1A9BAA"/>
                </a:solidFill>
                <a:latin typeface="Calibri"/>
              </a:rPr>
              <a:t>Rehydrate
literal/case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2" name="Node 4002"/>
          <p:cNvSpPr/>
          <p:nvPr/>
        </p:nvSpPr>
        <p:spPr>
          <a:xfrm>
            <a:off x="4160520" y="1920240"/>
            <a:ext cx="178308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B6CB0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80" b="1">
                <a:solidFill>
                  <a:srgbClr val="2B6CB0"/>
                </a:solidFill>
                <a:latin typeface="Calibri"/>
              </a:rPr>
              <a:t>Policy G
chọn action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3" name="Node 4003"/>
          <p:cNvSpPr/>
          <p:nvPr/>
        </p:nvSpPr>
        <p:spPr>
          <a:xfrm>
            <a:off x="6355080" y="1920240"/>
            <a:ext cx="160020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1A9BA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1A9BAA"/>
                </a:solidFill>
                <a:latin typeface="Calibri"/>
              </a:rPr>
              <a:t>Apply
mutation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4" name="Node 4004"/>
          <p:cNvSpPr/>
          <p:nvPr/>
        </p:nvSpPr>
        <p:spPr>
          <a:xfrm>
            <a:off x="8321040" y="1920240"/>
            <a:ext cx="160020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C05621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820" b="1">
                <a:solidFill>
                  <a:srgbClr val="C05621"/>
                </a:solidFill>
                <a:latin typeface="Calibri"/>
              </a:rPr>
              <a:t>Real WAF /
libinjection</a:t>
            </a:r>
            <a:endParaRPr lang="vi-VN"/>
          </a:p>
        </p:txBody>
      </p:sp>
      <p:sp xmlns:a="http://schemas.openxmlformats.org/drawingml/2006/main" xmlns:p="http://schemas.openxmlformats.org/presentationml/2006/main">
        <p:nvSpPr>
          <p:cNvPr id="4005" name="Node 4005"/>
          <p:cNvSpPr/>
          <p:nvPr/>
        </p:nvSpPr>
        <p:spPr>
          <a:xfrm>
            <a:off x="10287000" y="1920240"/>
            <a:ext cx="1097280" cy="658368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2F855A"/>
                </a:solidFill>
                <a:latin typeface="Calibri"/>
              </a:rPr>
              <a:t>Reward</a:t>
            </a:r>
            <a:endParaRPr lang="vi-VN"/>
          </a:p>
        </p:txBody>
      </p:sp>
      <p:cxnSp xmlns:a="http://schemas.openxmlformats.org/drawingml/2006/main" xmlns:p="http://schemas.openxmlformats.org/presentationml/2006/main">
        <p:nvCxnSpPr>
          <p:cNvPr id="4010" name="Arrow 4010"/>
          <p:cNvCxnSpPr/>
          <p:nvPr/>
        </p:nvCxnSpPr>
        <p:spPr>
          <a:xfrm>
            <a:off x="1783080" y="2249424"/>
            <a:ext cx="365760" cy="1"/>
          </a:xfrm>
          <a:prstGeom prst="straightConnector1">
            <a:avLst/>
          </a:prstGeom>
          <a:ln w="28575">
            <a:solidFill>
              <a:srgbClr val="1A9BA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1" name="Arrow 4011"/>
          <p:cNvCxnSpPr/>
          <p:nvPr/>
        </p:nvCxnSpPr>
        <p:spPr>
          <a:xfrm>
            <a:off x="3749039" y="2249424"/>
            <a:ext cx="411480" cy="1"/>
          </a:xfrm>
          <a:prstGeom prst="straightConnector1">
            <a:avLst/>
          </a:prstGeom>
          <a:ln w="28575">
            <a:solidFill>
              <a:srgbClr val="2B6CB0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2" name="Arrow 4012"/>
          <p:cNvCxnSpPr/>
          <p:nvPr/>
        </p:nvCxnSpPr>
        <p:spPr>
          <a:xfrm>
            <a:off x="5943600" y="2249424"/>
            <a:ext cx="411480" cy="1"/>
          </a:xfrm>
          <a:prstGeom prst="straightConnector1">
            <a:avLst/>
          </a:prstGeom>
          <a:ln w="28575">
            <a:solidFill>
              <a:srgbClr val="1A9BA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3" name="Arrow 4013"/>
          <p:cNvCxnSpPr/>
          <p:nvPr/>
        </p:nvCxnSpPr>
        <p:spPr>
          <a:xfrm>
            <a:off x="7955279" y="2249424"/>
            <a:ext cx="365760" cy="1"/>
          </a:xfrm>
          <a:prstGeom prst="straightConnector1">
            <a:avLst/>
          </a:prstGeom>
          <a:ln w="28575">
            <a:solidFill>
              <a:srgbClr val="C05621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4" name="Arrow 4014"/>
          <p:cNvCxnSpPr/>
          <p:nvPr/>
        </p:nvCxnSpPr>
        <p:spPr>
          <a:xfrm>
            <a:off x="9921240" y="2249424"/>
            <a:ext cx="365760" cy="1"/>
          </a:xfrm>
          <a:prstGeom prst="straightConnector1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cxnSp xmlns:a="http://schemas.openxmlformats.org/drawingml/2006/main" xmlns:p="http://schemas.openxmlformats.org/presentationml/2006/main">
        <p:nvCxnSpPr>
          <p:cNvPr id="4015" name="Elbow 4015"/>
          <p:cNvCxnSpPr/>
          <p:nvPr/>
        </p:nvCxnSpPr>
        <p:spPr>
          <a:xfrm flipH="1">
            <a:off x="5029200" y="2578608"/>
            <a:ext cx="5806440" cy="1719072"/>
          </a:xfrm>
          <a:prstGeom prst="bentConnector3">
            <a:avLst/>
          </a:prstGeom>
          <a:ln w="28575">
            <a:solidFill>
              <a:srgbClr val="2F855A"/>
            </a:solidFill>
            <a:prstDash val="dash"/>
            <a:tailEnd type="none"/>
            <a:headEnd type="triangle"/>
          </a:ln>
        </p:spPr>
      </p:cxnSp>
      <p:sp xmlns:a="http://schemas.openxmlformats.org/drawingml/2006/main" xmlns:p="http://schemas.openxmlformats.org/presentationml/2006/main">
        <p:nvSpPr>
          <p:cNvPr id="4016" name="Node 4016"/>
          <p:cNvSpPr/>
          <p:nvPr/>
        </p:nvSpPr>
        <p:spPr>
          <a:xfrm>
            <a:off x="3886200" y="4069080"/>
            <a:ext cx="2331720" cy="530352"/>
          </a:xfrm>
          <a:prstGeom prst="roundRect">
            <a:avLst/>
          </a:prstGeom>
          <a:solidFill>
            <a:srgbClr val="F7FAFC"/>
          </a:solidFill>
          <a:ln w="28575">
            <a:solidFill>
              <a:srgbClr val="2F855A"/>
            </a:solidFill>
            <a:prstDash val="dash"/>
          </a:ln>
        </p:spPr>
        <p:txBody>
          <a:bodyPr wrap="square" lIns="91440" tIns="68580" rIns="91440" bIns="68580"/>
          <a:lstStyle/>
          <a:p>
            <a:pPr algn="ctr"/>
            <a:r>
              <a:rPr lang="vi-VN" sz="900" b="1">
                <a:solidFill>
                  <a:srgbClr val="2F855A"/>
                </a:solidFill>
                <a:latin typeface="Calibri"/>
              </a:rPr>
              <a:t>policy update / rerank</a:t>
            </a:r>
            <a:endParaRPr lang="vi-VN"/>
          </a:p>
        </p:txBody>
      </p:sp>
      <p:sp>
        <p:nvSpPr>
          <p:cNvPr id="4017" name="Shape 4017"/>
          <p:cNvSpPr/>
          <p:nvPr/>
        </p:nvSpPr>
        <p:spPr>
          <a:xfrm>
            <a:off x="1920240" y="1444752"/>
            <a:ext cx="150876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1A9BAA"/>
                </a:solidFill>
                <a:latin typeface="Calibri"/>
              </a:rPr>
              <a:t>khôi phục surface</a:t>
            </a:r>
            <a:endParaRPr lang="en-US"/>
          </a:p>
        </p:txBody>
      </p:sp>
      <p:sp>
        <p:nvSpPr>
          <p:cNvPr id="4018" name="Shape 4018"/>
          <p:cNvSpPr/>
          <p:nvPr/>
        </p:nvSpPr>
        <p:spPr>
          <a:xfrm>
            <a:off x="3977639" y="1444752"/>
            <a:ext cx="246888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B6CB0"/>
                </a:solidFill>
                <a:latin typeface="Calibri"/>
              </a:rPr>
              <a:t>comment/case/operator/encode/space</a:t>
            </a:r>
            <a:endParaRPr lang="en-US"/>
          </a:p>
        </p:txBody>
      </p:sp>
      <p:sp>
        <p:nvSpPr>
          <p:cNvPr id="4019" name="Shape 4019"/>
          <p:cNvSpPr/>
          <p:nvPr/>
        </p:nvSpPr>
        <p:spPr>
          <a:xfrm>
            <a:off x="8275320" y="1444752"/>
            <a:ext cx="164592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C05621"/>
                </a:solidFill>
                <a:latin typeface="Calibri"/>
              </a:rPr>
              <a:t>validity + evasion</a:t>
            </a:r>
            <a:endParaRPr lang="en-US"/>
          </a:p>
        </p:txBody>
      </p:sp>
      <p:sp>
        <p:nvSpPr>
          <p:cNvPr id="4020" name="Shape 4020"/>
          <p:cNvSpPr/>
          <p:nvPr/>
        </p:nvSpPr>
        <p:spPr>
          <a:xfrm>
            <a:off x="6995160" y="4160520"/>
            <a:ext cx="1417320" cy="2926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820" b="1">
                <a:solidFill>
                  <a:srgbClr val="2F855A"/>
                </a:solidFill>
                <a:latin typeface="Calibri"/>
              </a:rPr>
              <a:t>reward feedback</a:t>
            </a:r>
            <a:endParaRPr lang="en-US"/>
          </a:p>
        </p:txBody>
      </p:sp>
      <p:sp>
        <p:nvSpPr>
          <p:cNvPr id="4021" name="Shape 4021"/>
          <p:cNvSpPr/>
          <p:nvPr/>
        </p:nvSpPr>
        <p:spPr>
          <a:xfrm>
            <a:off x="914400" y="4892040"/>
            <a:ext cx="10058400" cy="43891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 b="1">
                <a:solidFill>
                  <a:srgbClr val="2F855A"/>
                </a:solidFill>
                <a:latin typeface="Calibri"/>
              </a:rPr>
              <a:t>Reward rule: valid + giữ intent + không bị detect = cao; invalid = âm; bị detect = thấp.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Ke hoach thuc nghiem tiep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Ba buoc nho de chot vai tro GAN bang bang chung</a:t>
            </a:r>
            <a:endParaRPr lang="en-US"/>
          </a:p>
        </p:txBody>
      </p:sp>
      <p:sp>
        <p:nvSpPr>
          <p:cNvPr id="320" name="Shape 320"/>
          <p:cNvSpPr/>
          <p:nvPr/>
        </p:nvSpPr>
        <p:spPr>
          <a:xfrm>
            <a:off x="685800" y="1234440"/>
            <a:ext cx="914400" cy="59436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Buoc</a:t>
            </a:r>
            <a:endParaRPr lang="en-US"/>
          </a:p>
        </p:txBody>
      </p:sp>
      <p:sp>
        <p:nvSpPr>
          <p:cNvPr id="321" name="Shape 321"/>
          <p:cNvSpPr/>
          <p:nvPr/>
        </p:nvSpPr>
        <p:spPr>
          <a:xfrm>
            <a:off x="1600200" y="1234440"/>
            <a:ext cx="5212080" cy="59436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Thuc nghiem</a:t>
            </a:r>
            <a:endParaRPr lang="en-US"/>
          </a:p>
        </p:txBody>
      </p:sp>
      <p:sp>
        <p:nvSpPr>
          <p:cNvPr id="322" name="Shape 322"/>
          <p:cNvSpPr/>
          <p:nvPr/>
        </p:nvSpPr>
        <p:spPr>
          <a:xfrm>
            <a:off x="6812280" y="1234440"/>
            <a:ext cx="4663440" cy="594360"/>
          </a:xfrm>
          <a:prstGeom prst="rect">
            <a:avLst/>
          </a:prstGeom>
          <a:solidFill>
            <a:srgbClr val="153A5B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Dau ra</a:t>
            </a:r>
            <a:endParaRPr lang="en-US"/>
          </a:p>
        </p:txBody>
      </p:sp>
      <p:sp>
        <p:nvSpPr>
          <p:cNvPr id="323" name="Shape 323"/>
          <p:cNvSpPr/>
          <p:nvPr/>
        </p:nvSpPr>
        <p:spPr>
          <a:xfrm>
            <a:off x="685800" y="1828800"/>
            <a:ext cx="9144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1</a:t>
            </a:r>
            <a:endParaRPr lang="en-US"/>
          </a:p>
        </p:txBody>
      </p:sp>
      <p:sp>
        <p:nvSpPr>
          <p:cNvPr id="324" name="Shape 324"/>
          <p:cNvSpPr/>
          <p:nvPr/>
        </p:nvSpPr>
        <p:spPr>
          <a:xfrm>
            <a:off x="1600200" y="1828800"/>
            <a:ext cx="52120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Diversity/coverage GAN vs mutation</a:t>
            </a:r>
            <a:endParaRPr lang="en-US"/>
          </a:p>
        </p:txBody>
      </p:sp>
      <p:sp>
        <p:nvSpPr>
          <p:cNvPr id="325" name="Shape 325"/>
          <p:cNvSpPr/>
          <p:nvPr/>
        </p:nvSpPr>
        <p:spPr>
          <a:xfrm>
            <a:off x="6812280" y="1828800"/>
            <a:ext cx="46634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Biet GAN co mo rong khong gian mau khong</a:t>
            </a:r>
            <a:endParaRPr lang="en-US"/>
          </a:p>
        </p:txBody>
      </p:sp>
      <p:sp>
        <p:nvSpPr>
          <p:cNvPr id="326" name="Shape 326"/>
          <p:cNvSpPr/>
          <p:nvPr/>
        </p:nvSpPr>
        <p:spPr>
          <a:xfrm>
            <a:off x="685800" y="2423160"/>
            <a:ext cx="914400" cy="59436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2</a:t>
            </a:r>
            <a:endParaRPr lang="en-US"/>
          </a:p>
        </p:txBody>
      </p:sp>
      <p:sp>
        <p:nvSpPr>
          <p:cNvPr id="327" name="Shape 327"/>
          <p:cNvSpPr/>
          <p:nvPr/>
        </p:nvSpPr>
        <p:spPr>
          <a:xfrm>
            <a:off x="1600200" y="2423160"/>
            <a:ext cx="5212080" cy="59436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Augmentation smoke test</a:t>
            </a:r>
            <a:endParaRPr lang="en-US"/>
          </a:p>
        </p:txBody>
      </p:sp>
      <p:sp>
        <p:nvSpPr>
          <p:cNvPr id="328" name="Shape 328"/>
          <p:cNvSpPr/>
          <p:nvPr/>
        </p:nvSpPr>
        <p:spPr>
          <a:xfrm>
            <a:off x="6812280" y="2423160"/>
            <a:ext cx="4663440" cy="594360"/>
          </a:xfrm>
          <a:prstGeom prst="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Recall/F1/FPR/robustness delta</a:t>
            </a:r>
            <a:endParaRPr lang="en-US"/>
          </a:p>
        </p:txBody>
      </p:sp>
      <p:sp>
        <p:nvSpPr>
          <p:cNvPr id="329" name="Shape 329"/>
          <p:cNvSpPr/>
          <p:nvPr/>
        </p:nvSpPr>
        <p:spPr>
          <a:xfrm>
            <a:off x="685800" y="3017520"/>
            <a:ext cx="9144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3</a:t>
            </a:r>
            <a:endParaRPr lang="en-US"/>
          </a:p>
        </p:txBody>
      </p:sp>
      <p:sp>
        <p:nvSpPr>
          <p:cNvPr id="330" name="Shape 330"/>
          <p:cNvSpPr/>
          <p:nvPr/>
        </p:nvSpPr>
        <p:spPr>
          <a:xfrm>
            <a:off x="1600200" y="3017520"/>
            <a:ext cx="52120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Real-space vertical slice</a:t>
            </a:r>
            <a:endParaRPr lang="en-US"/>
          </a:p>
        </p:txBody>
      </p:sp>
      <p:sp>
        <p:nvSpPr>
          <p:cNvPr id="331" name="Shape 331"/>
          <p:cNvSpPr/>
          <p:nvPr/>
        </p:nvSpPr>
        <p:spPr>
          <a:xfrm>
            <a:off x="6812280" y="3017520"/>
            <a:ext cx="46634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050">
                <a:solidFill>
                  <a:srgbClr val="111827"/>
                </a:solidFill>
                <a:latin typeface="Calibri"/>
              </a:rPr>
              <a:t>Rehydrate + WAF/libinjection + reward</a:t>
            </a:r>
            <a:endParaRPr lang="en-US"/>
          </a:p>
        </p:txBody>
      </p:sp>
      <p:sp>
        <p:nvSpPr>
          <p:cNvPr id="340" name="Text 340"/>
          <p:cNvSpPr txBox="1"/>
          <p:nvPr/>
        </p:nvSpPr>
        <p:spPr>
          <a:xfrm>
            <a:off x="914400" y="480060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20" b="1">
                <a:solidFill>
                  <a:srgbClr val="4A5568"/>
                </a:solidFill>
                <a:latin typeface="Calibri"/>
              </a:rPr>
              <a:t>Neu augmentation khong thang, van co ket qua negative-methodology ro rang va co baseline.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153A5B"/>
          </a:solidFill>
          <a:ln w="19050">
            <a:solidFill>
              <a:srgbClr val="153A5B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20040" y="10972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850" b="1">
                <a:solidFill>
                  <a:srgbClr val="FFFFFF"/>
                </a:solidFill>
                <a:latin typeface="Calibri"/>
              </a:rPr>
              <a:t>Ket luan trinh bay voi thay</a:t>
            </a:r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502920" y="71323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50">
                <a:solidFill>
                  <a:srgbClr val="4A5568"/>
                </a:solidFill>
                <a:latin typeface="Calibri"/>
              </a:rPr>
              <a:t>Kien truc da ro; ket qua am duoc bien thanh quyet dinh ky thuat</a:t>
            </a:r>
            <a:endParaRPr lang="en-US"/>
          </a:p>
        </p:txBody>
      </p:sp>
      <p:sp>
        <p:nvSpPr>
          <p:cNvPr id="350" name="Shape 350"/>
          <p:cNvSpPr/>
          <p:nvPr/>
        </p:nvSpPr>
        <p:spPr>
          <a:xfrm>
            <a:off x="777240" y="1325880"/>
            <a:ext cx="3063240" cy="914400"/>
          </a:xfrm>
          <a:prstGeom prst="roundRect">
            <a:avLst/>
          </a:prstGeom>
          <a:solidFill>
            <a:srgbClr val="2B6CB0"/>
          </a:solidFill>
          <a:ln w="19050">
            <a:solidFill>
              <a:srgbClr val="2B6CB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</a:rPr>
              <a:t>Em da lam ro
kien truc theo gop y</a:t>
            </a:r>
            <a:endParaRPr lang="en-US"/>
          </a:p>
        </p:txBody>
      </p:sp>
      <p:sp>
        <p:nvSpPr>
          <p:cNvPr id="351" name="Shape 351"/>
          <p:cNvSpPr/>
          <p:nvPr/>
        </p:nvSpPr>
        <p:spPr>
          <a:xfrm>
            <a:off x="4526280" y="1325880"/>
            <a:ext cx="3063240" cy="914400"/>
          </a:xfrm>
          <a:prstGeom prst="roundRect">
            <a:avLst/>
          </a:prstGeom>
          <a:solidFill>
            <a:srgbClr val="C53030"/>
          </a:solidFill>
          <a:ln w="19050">
            <a:solidFill>
              <a:srgbClr val="C53030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GAN generator
delex-space fail baseline</a:t>
            </a:r>
            <a:endParaRPr lang="en-US"/>
          </a:p>
        </p:txBody>
      </p:sp>
      <p:sp>
        <p:nvSpPr>
          <p:cNvPr id="352" name="Shape 352"/>
          <p:cNvSpPr/>
          <p:nvPr/>
        </p:nvSpPr>
        <p:spPr>
          <a:xfrm>
            <a:off x="8275320" y="1325880"/>
            <a:ext cx="3063240" cy="914400"/>
          </a:xfrm>
          <a:prstGeom prst="roundRect">
            <a:avLst/>
          </a:prstGeom>
          <a:solidFill>
            <a:srgbClr val="2F855A"/>
          </a:solidFill>
          <a:ln w="19050">
            <a:solidFill>
              <a:srgbClr val="2F855A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Giu GAN trung tam
bang doi vai</a:t>
            </a:r>
            <a:endParaRPr lang="en-US"/>
          </a:p>
        </p:txBody>
      </p:sp>
      <p:sp>
        <p:nvSpPr>
          <p:cNvPr id="353" name="Text 353"/>
          <p:cNvSpPr txBox="1"/>
          <p:nvPr/>
        </p:nvSpPr>
        <p:spPr>
          <a:xfrm>
            <a:off x="868680" y="29718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550" b="1">
                <a:solidFill>
                  <a:srgbClr val="111827"/>
                </a:solidFill>
                <a:latin typeface="Calibri"/>
              </a:rPr>
              <a:t>Huong tiep: GAN-as-Augmentation-Engine va GAN-as-Real-Space Policy co WAF reward that.</a:t>
            </a:r>
            <a:endParaRPr lang="en-US"/>
          </a:p>
        </p:txBody>
      </p:sp>
      <p:sp>
        <p:nvSpPr>
          <p:cNvPr id="354" name="Text 354"/>
          <p:cNvSpPr txBox="1"/>
          <p:nvPr/>
        </p:nvSpPr>
        <p:spPr>
          <a:xfrm>
            <a:off x="868680" y="44348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300" b="1">
                <a:solidFill>
                  <a:srgbClr val="4A5568"/>
                </a:solidFill>
                <a:latin typeface="Calibri"/>
              </a:rPr>
              <a:t>Claim can than: khong noi GAN da bypass tot hon; noi rang pipeline da co evaluator va baseline de quyet dinh vai tro GAN.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N_SQLi Theme">
  <a:themeElements>
    <a:clrScheme name="Custom">
      <a:dk1>
        <a:srgbClr val="111827"/>
      </a:dk1>
      <a:lt1>
        <a:srgbClr val="FFFFFF"/>
      </a:lt1>
      <a:dk2>
        <a:srgbClr val="153A5B"/>
      </a:dk2>
      <a:lt2>
        <a:srgbClr val="EDF2F7"/>
      </a:lt2>
      <a:accent1>
        <a:srgbClr val="2B6CB0"/>
      </a:accent1>
      <a:accent2>
        <a:srgbClr val="2F855A"/>
      </a:accent2>
      <a:accent3>
        <a:srgbClr val="C05621"/>
      </a:accent3>
      <a:accent4>
        <a:srgbClr val="6B46C1"/>
      </a:accent4>
      <a:accent5>
        <a:srgbClr val="1A9BAA"/>
      </a:accent5>
      <a:accent6>
        <a:srgbClr val="C53030"/>
      </a:accent6>
      <a:hlink>
        <a:srgbClr val="2B6CB0"/>
      </a:hlink>
      <a:folHlink>
        <a:srgbClr val="6B46C1"/>
      </a:folHlink>
    </a:clrScheme>
    <a:fontScheme name="Calibri">
      <a:majorFont>
        <a:latin typeface="Calibri"/>
      </a:majorFont>
      <a:minorFont>
        <a:latin typeface="Calibri"/>
      </a:minorFont>
    </a:fontScheme>
    <a:fmtScheme name="Simple">
      <a:fillStyleLst/>
      <a:lnStyleLst/>
      <a:effectStyleLst/>
      <a:bgFillStyleLst/>
    </a:fmtScheme>
  </a:themeElements>
</a:theme>
</file>