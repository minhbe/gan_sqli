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777240" y="114300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</a:rPr>
              <a:t>Kiến trúc GAN-SQLi: vòng lặp đối kháng có nhãn quan hệ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051560" y="2331720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600">
                <a:solidFill>
                  <a:srgbClr val="DDEBFF"/>
                </a:solidFill>
                <a:latin typeface="Calibri"/>
              </a:rPr>
              <a:t>G - D - WAF/Oracle - Reward: kết nối nào, tín hiệu nào, dùng ở đâu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Node 5"/>
          <p:cNvSpPr/>
          <p:nvPr/>
        </p:nvSpPr>
        <p:spPr>
          <a:xfrm>
            <a:off x="914400" y="3886200"/>
            <a:ext cx="2377440" cy="731520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MASTER loop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6" name="Node 6"/>
          <p:cNvSpPr/>
          <p:nvPr/>
        </p:nvSpPr>
        <p:spPr>
          <a:xfrm>
            <a:off x="4892040" y="3886200"/>
            <a:ext cx="2377440" cy="731520"/>
          </a:xfrm>
          <a:prstGeom prst="roundRect">
            <a:avLst/>
          </a:prstGeom>
          <a:solidFill>
            <a:srgbClr val="6B46C1"/>
          </a:solidFill>
          <a:ln w="28575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3 zoom slides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7" name="Node 7"/>
          <p:cNvSpPr/>
          <p:nvPr/>
        </p:nvSpPr>
        <p:spPr>
          <a:xfrm>
            <a:off x="8869680" y="3886200"/>
            <a:ext cx="2377440" cy="731520"/>
          </a:xfrm>
          <a:prstGeom prst="roundRect">
            <a:avLst/>
          </a:prstGeom>
          <a:solidFill>
            <a:srgbClr val="2F855A"/>
          </a:solidFill>
          <a:ln w="28575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Deck tích hợp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8" name="Arrow 8"/>
          <p:cNvCxnSpPr/>
          <p:nvPr/>
        </p:nvCxnSpPr>
        <p:spPr>
          <a:xfrm>
            <a:off x="3291840" y="4251960"/>
            <a:ext cx="1600199" cy="1"/>
          </a:xfrm>
          <a:prstGeom prst="straightConnector1">
            <a:avLst/>
          </a:prstGeom>
          <a:ln w="28575">
            <a:solidFill>
              <a:srgbClr val="FFFFFF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9" name="Arrow 9"/>
          <p:cNvCxnSpPr/>
          <p:nvPr/>
        </p:nvCxnSpPr>
        <p:spPr>
          <a:xfrm>
            <a:off x="7269480" y="4251960"/>
            <a:ext cx="1600199" cy="1"/>
          </a:xfrm>
          <a:prstGeom prst="straightConnector1">
            <a:avLst/>
          </a:prstGeom>
          <a:ln w="28575">
            <a:solidFill>
              <a:srgbClr val="FFFFFF"/>
            </a:solidFill>
            <a:tailEnd type="none"/>
            <a:headEnd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Vòng lặp đối kháng G-D-WAF-reward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Một sơ đồ trả lời trực tiếp: các khối nối với nhau thế nào và reward dùng ở đâu?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00" name="Node 1000"/>
          <p:cNvSpPr/>
          <p:nvPr/>
        </p:nvSpPr>
        <p:spPr>
          <a:xfrm>
            <a:off x="502920" y="2148840"/>
            <a:ext cx="1783080" cy="731520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Dataset /
Delex-frame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1" name="Node 1001"/>
          <p:cNvSpPr/>
          <p:nvPr/>
        </p:nvSpPr>
        <p:spPr>
          <a:xfrm>
            <a:off x="2788920" y="1234440"/>
            <a:ext cx="1691640" cy="74980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20" b="1">
                <a:solidFill>
                  <a:srgbClr val="FFFFFF"/>
                </a:solidFill>
                <a:latin typeface="Calibri"/>
              </a:rPr>
              <a:t>Generator G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2" name="Node 1002"/>
          <p:cNvSpPr/>
          <p:nvPr/>
        </p:nvSpPr>
        <p:spPr>
          <a:xfrm>
            <a:off x="4983480" y="1234440"/>
            <a:ext cx="1691640" cy="749808"/>
          </a:xfrm>
          <a:prstGeom prst="roundRect">
            <a:avLst/>
          </a:prstGeom>
          <a:solidFill>
            <a:srgbClr val="1A9BAA"/>
          </a:solidFill>
          <a:ln w="28575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20" b="1">
                <a:solidFill>
                  <a:srgbClr val="FFFFFF"/>
                </a:solidFill>
                <a:latin typeface="Calibri"/>
              </a:rPr>
              <a:t>Candidates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3" name="Node 1003"/>
          <p:cNvSpPr/>
          <p:nvPr/>
        </p:nvSpPr>
        <p:spPr>
          <a:xfrm>
            <a:off x="7315200" y="1234440"/>
            <a:ext cx="1828800" cy="749808"/>
          </a:xfrm>
          <a:prstGeom prst="roundRect">
            <a:avLst/>
          </a:prstGeom>
          <a:solidFill>
            <a:srgbClr val="6B46C1"/>
          </a:solidFill>
          <a:ln w="28575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980" b="1">
                <a:solidFill>
                  <a:srgbClr val="FFFFFF"/>
                </a:solidFill>
                <a:latin typeface="Calibri"/>
              </a:rPr>
              <a:t>Discriminator D
/ Detector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4" name="Node 1004"/>
          <p:cNvSpPr/>
          <p:nvPr/>
        </p:nvSpPr>
        <p:spPr>
          <a:xfrm>
            <a:off x="7452360" y="3154680"/>
            <a:ext cx="1828800" cy="749808"/>
          </a:xfrm>
          <a:prstGeom prst="roundRect">
            <a:avLst/>
          </a:prstGeom>
          <a:solidFill>
            <a:srgbClr val="C05621"/>
          </a:solidFill>
          <a:ln w="28575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80" b="1">
                <a:solidFill>
                  <a:srgbClr val="FFFFFF"/>
                </a:solidFill>
                <a:latin typeface="Calibri"/>
              </a:rPr>
              <a:t>WAF / Oracle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5" name="Node 1005"/>
          <p:cNvSpPr/>
          <p:nvPr/>
        </p:nvSpPr>
        <p:spPr>
          <a:xfrm>
            <a:off x="4937760" y="4434840"/>
            <a:ext cx="1783080" cy="749808"/>
          </a:xfrm>
          <a:prstGeom prst="roundRect">
            <a:avLst/>
          </a:prstGeom>
          <a:solidFill>
            <a:srgbClr val="2F855A"/>
          </a:solidFill>
          <a:ln w="28575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Reward /
Score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6" name="Node 1006"/>
          <p:cNvSpPr/>
          <p:nvPr/>
        </p:nvSpPr>
        <p:spPr>
          <a:xfrm>
            <a:off x="9829800" y="4297680"/>
            <a:ext cx="1737360" cy="74980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20" b="1">
                <a:solidFill>
                  <a:srgbClr val="2F855A"/>
                </a:solidFill>
                <a:latin typeface="Calibri"/>
              </a:rPr>
              <a:t>Augmented
training set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1010" name="Arrow 1010"/>
          <p:cNvCxnSpPr/>
          <p:nvPr/>
        </p:nvCxnSpPr>
        <p:spPr>
          <a:xfrm flipV="1">
            <a:off x="2286000" y="1600200"/>
            <a:ext cx="502919" cy="731519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sp>
        <p:nvSpPr>
          <p:cNvPr id="1011" name="Shape 1011"/>
          <p:cNvSpPr/>
          <p:nvPr/>
        </p:nvSpPr>
        <p:spPr>
          <a:xfrm>
            <a:off x="1600200" y="1508760"/>
            <a:ext cx="16002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frame + điều kiện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2" name="Arrow 1012"/>
          <p:cNvCxnSpPr/>
          <p:nvPr/>
        </p:nvCxnSpPr>
        <p:spPr>
          <a:xfrm>
            <a:off x="4480560" y="1609344"/>
            <a:ext cx="502919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sp>
        <p:nvSpPr>
          <p:cNvPr id="1013" name="Shape 1013"/>
          <p:cNvSpPr/>
          <p:nvPr/>
        </p:nvSpPr>
        <p:spPr>
          <a:xfrm>
            <a:off x="4251960" y="1097280"/>
            <a:ext cx="17830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sinh slot / biến thể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4" name="Arrow 1014"/>
          <p:cNvCxnSpPr/>
          <p:nvPr/>
        </p:nvCxnSpPr>
        <p:spPr>
          <a:xfrm>
            <a:off x="6675120" y="1609344"/>
            <a:ext cx="640080" cy="1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sp>
        <p:nvSpPr>
          <p:cNvPr id="1015" name="Shape 1015"/>
          <p:cNvSpPr/>
          <p:nvPr/>
        </p:nvSpPr>
        <p:spPr>
          <a:xfrm>
            <a:off x="6309360" y="1097280"/>
            <a:ext cx="173736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đưa real vs fake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6" name="Elbow 1016"/>
          <p:cNvCxnSpPr/>
          <p:nvPr/>
        </p:nvCxnSpPr>
        <p:spPr>
          <a:xfrm flipH="1" flipV="1">
            <a:off x="3657600" y="987552"/>
            <a:ext cx="3657600" cy="310895"/>
          </a:xfrm>
          <a:prstGeom prst="bentConnector3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sp>
        <p:nvSpPr>
          <p:cNvPr id="1017" name="Shape 1017"/>
          <p:cNvSpPr/>
          <p:nvPr/>
        </p:nvSpPr>
        <p:spPr>
          <a:xfrm>
            <a:off x="4617720" y="658368"/>
            <a:ext cx="1874519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tín hiệu đối kháng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8" name="Arrow 1018"/>
          <p:cNvCxnSpPr/>
          <p:nvPr/>
        </p:nvCxnSpPr>
        <p:spPr>
          <a:xfrm>
            <a:off x="5989320" y="1984248"/>
            <a:ext cx="1463040" cy="1170432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sp>
        <p:nvSpPr>
          <p:cNvPr id="1019" name="Shape 1019"/>
          <p:cNvSpPr/>
          <p:nvPr/>
        </p:nvSpPr>
        <p:spPr>
          <a:xfrm>
            <a:off x="5989320" y="2468880"/>
            <a:ext cx="18288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C05621"/>
                </a:solidFill>
                <a:latin typeface="Calibri"/>
              </a:rPr>
              <a:t>validity + evasion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0" name="Arrow 1020"/>
          <p:cNvCxnSpPr/>
          <p:nvPr/>
        </p:nvCxnSpPr>
        <p:spPr>
          <a:xfrm flipH="1">
            <a:off x="6720840" y="3639312"/>
            <a:ext cx="731520" cy="932688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021" name="Shape 1021"/>
          <p:cNvSpPr/>
          <p:nvPr/>
        </p:nvSpPr>
        <p:spPr>
          <a:xfrm>
            <a:off x="6720840" y="3977639"/>
            <a:ext cx="96012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điểm số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2" name="Elbow 1022"/>
          <p:cNvCxnSpPr/>
          <p:nvPr/>
        </p:nvCxnSpPr>
        <p:spPr>
          <a:xfrm flipH="1" flipV="1">
            <a:off x="3520440" y="1984248"/>
            <a:ext cx="1417320" cy="2825496"/>
          </a:xfrm>
          <a:prstGeom prst="bentConnector3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023" name="Shape 1023"/>
          <p:cNvSpPr/>
          <p:nvPr/>
        </p:nvSpPr>
        <p:spPr>
          <a:xfrm>
            <a:off x="2423160" y="4251960"/>
            <a:ext cx="21488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reward -&gt; rerank / penalty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4" name="Elbow 1024"/>
          <p:cNvCxnSpPr/>
          <p:nvPr/>
        </p:nvCxnSpPr>
        <p:spPr>
          <a:xfrm flipH="1" flipV="1">
            <a:off x="4069080" y="1984248"/>
            <a:ext cx="1874519" cy="2825496"/>
          </a:xfrm>
          <a:prstGeom prst="bentConnector3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sp>
        <p:nvSpPr>
          <p:cNvPr id="1025" name="Shape 1025"/>
          <p:cNvSpPr/>
          <p:nvPr/>
        </p:nvSpPr>
        <p:spPr>
          <a:xfrm>
            <a:off x="3977639" y="5047488"/>
            <a:ext cx="150876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-&gt; policy update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6" name="Arrow 1026"/>
          <p:cNvCxnSpPr/>
          <p:nvPr/>
        </p:nvCxnSpPr>
        <p:spPr>
          <a:xfrm>
            <a:off x="9281160" y="3639312"/>
            <a:ext cx="548639" cy="978407"/>
          </a:xfrm>
          <a:prstGeom prst="straightConnector1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sp>
        <p:nvSpPr>
          <p:cNvPr id="1027" name="Shape 1027"/>
          <p:cNvSpPr/>
          <p:nvPr/>
        </p:nvSpPr>
        <p:spPr>
          <a:xfrm>
            <a:off x="8915400" y="4069080"/>
            <a:ext cx="17830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dữ liệu gắn nhãn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8" name="Elbow 1028"/>
          <p:cNvCxnSpPr/>
          <p:nvPr/>
        </p:nvCxnSpPr>
        <p:spPr>
          <a:xfrm flipH="1" flipV="1">
            <a:off x="8412480" y="1984248"/>
            <a:ext cx="2286000" cy="2313432"/>
          </a:xfrm>
          <a:prstGeom prst="bentConnector3">
            <a:avLst/>
          </a:prstGeom>
          <a:ln w="28575">
            <a:solidFill>
              <a:srgbClr val="6B46C1"/>
            </a:solidFill>
            <a:prstDash val="dash"/>
            <a:tailEnd type="none"/>
            <a:headEnd type="triangle"/>
          </a:ln>
        </p:spPr>
      </p:cxnSp>
      <p:sp>
        <p:nvSpPr>
          <p:cNvPr id="1029" name="Shape 1029"/>
          <p:cNvSpPr/>
          <p:nvPr/>
        </p:nvSpPr>
        <p:spPr>
          <a:xfrm>
            <a:off x="9235440" y="2743200"/>
            <a:ext cx="20116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augment -&gt; D robust hơn</a:t>
            </a:r>
            <a:endParaRPr lang="en-US"/>
          </a:p>
        </p:txBody>
      </p:sp>
      <p:sp>
        <p:nvSpPr>
          <p:cNvPr id="1030" name="Text 1030"/>
          <p:cNvSpPr txBox="1"/>
          <p:nvPr/>
        </p:nvSpPr>
        <p:spPr>
          <a:xfrm>
            <a:off x="685800" y="53492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050" b="1">
                <a:solidFill>
                  <a:srgbClr val="4A5568"/>
                </a:solidFill>
                <a:latin typeface="Calibri"/>
              </a:rPr>
              <a:t>G sinh ứng viên; D tạo tín hiệu đối kháng; WAF/Oracle chấm validity/evasion; reward quay về để chọn mẫu và mở đường policy update.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40" name="Node 1040"/>
          <p:cNvSpPr/>
          <p:nvPr/>
        </p:nvSpPr>
        <p:spPr>
          <a:xfrm>
            <a:off x="9464040" y="685800"/>
            <a:ext cx="384048" cy="228600"/>
          </a:xfrm>
          <a:prstGeom prst="roundRect">
            <a:avLst/>
          </a:prstGeom>
          <a:solidFill>
            <a:srgbClr val="2F855A"/>
          </a:solidFill>
          <a:ln w="28575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700" b="1">
                <a:solidFill>
                  <a:srgbClr val="FFFFFF"/>
                </a:solidFill>
                <a:latin typeface="Calibri"/>
              </a:rPr>
              <a:t/>
            </a:r>
            <a:endParaRPr lang="vi-VN"/>
          </a:p>
        </p:txBody>
      </p:sp>
      <p:sp>
        <p:nvSpPr>
          <p:cNvPr id="1041" name="Text 1041"/>
          <p:cNvSpPr txBox="1"/>
          <p:nvPr/>
        </p:nvSpPr>
        <p:spPr>
          <a:xfrm>
            <a:off x="9939528" y="667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850">
                <a:solidFill>
                  <a:srgbClr val="4A5568"/>
                </a:solidFill>
                <a:latin typeface="Calibri"/>
              </a:rPr>
              <a:t>Đã làm (Phase 1-8)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42" name="Node 1042"/>
          <p:cNvSpPr/>
          <p:nvPr/>
        </p:nvSpPr>
        <p:spPr>
          <a:xfrm>
            <a:off x="9464040" y="1069848"/>
            <a:ext cx="384048" cy="228600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C0562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700" b="1">
                <a:solidFill>
                  <a:srgbClr val="C05621"/>
                </a:solidFill>
                <a:latin typeface="Calibri"/>
              </a:rPr>
              <a:t/>
            </a:r>
            <a:endParaRPr lang="vi-VN"/>
          </a:p>
        </p:txBody>
      </p:sp>
      <p:sp>
        <p:nvSpPr>
          <p:cNvPr id="1043" name="Text 1043"/>
          <p:cNvSpPr txBox="1"/>
          <p:nvPr/>
        </p:nvSpPr>
        <p:spPr>
          <a:xfrm>
            <a:off x="9939528" y="10515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850">
                <a:solidFill>
                  <a:srgbClr val="4A5568"/>
                </a:solidFill>
                <a:latin typeface="Calibri"/>
              </a:rPr>
              <a:t>Tương lai (đề xuất)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Zoom 1 - Hiện trạng: H5' Paired Masked Surgery GAN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Đã làm: sinh slot/local token trong delex-frame, rồi đo với baseline và evaluator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000" name="Node 2000"/>
          <p:cNvSpPr/>
          <p:nvPr/>
        </p:nvSpPr>
        <p:spPr>
          <a:xfrm>
            <a:off x="502920" y="1417320"/>
            <a:ext cx="1600200" cy="685800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Delex frame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1" name="Node 2001"/>
          <p:cNvSpPr/>
          <p:nvPr/>
        </p:nvSpPr>
        <p:spPr>
          <a:xfrm>
            <a:off x="502920" y="2331720"/>
            <a:ext cx="1600200" cy="685800"/>
          </a:xfrm>
          <a:prstGeom prst="roundRect">
            <a:avLst/>
          </a:prstGeom>
          <a:solidFill>
            <a:srgbClr val="1A9BAA"/>
          </a:solidFill>
          <a:ln w="28575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Mask slot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2" name="Node 2002"/>
          <p:cNvSpPr/>
          <p:nvPr/>
        </p:nvSpPr>
        <p:spPr>
          <a:xfrm>
            <a:off x="502920" y="3246120"/>
            <a:ext cx="1600200" cy="685800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Condition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3" name="Node 2003"/>
          <p:cNvSpPr/>
          <p:nvPr/>
        </p:nvSpPr>
        <p:spPr>
          <a:xfrm>
            <a:off x="2880360" y="1325880"/>
            <a:ext cx="1600200" cy="56692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920" b="1">
                <a:solidFill>
                  <a:srgbClr val="FFFFFF"/>
                </a:solidFill>
                <a:latin typeface="Calibri"/>
              </a:rPr>
              <a:t>token emb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4" name="Node 2004"/>
          <p:cNvSpPr/>
          <p:nvPr/>
        </p:nvSpPr>
        <p:spPr>
          <a:xfrm>
            <a:off x="2880360" y="2057400"/>
            <a:ext cx="1600200" cy="56692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80" b="1">
                <a:solidFill>
                  <a:srgbClr val="FFFFFF"/>
                </a:solidFill>
                <a:latin typeface="Calibri"/>
              </a:rPr>
              <a:t>condition emb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5" name="Node 2005"/>
          <p:cNvSpPr/>
          <p:nvPr/>
        </p:nvSpPr>
        <p:spPr>
          <a:xfrm>
            <a:off x="2880360" y="2788920"/>
            <a:ext cx="1600200" cy="56692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80" b="1">
                <a:solidFill>
                  <a:srgbClr val="FFFFFF"/>
                </a:solidFill>
                <a:latin typeface="Calibri"/>
              </a:rPr>
              <a:t>position emb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6" name="Node 2006"/>
          <p:cNvSpPr/>
          <p:nvPr/>
        </p:nvSpPr>
        <p:spPr>
          <a:xfrm>
            <a:off x="4892040" y="2057400"/>
            <a:ext cx="1600200" cy="65836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Conv1D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7" name="Node 2007"/>
          <p:cNvSpPr/>
          <p:nvPr/>
        </p:nvSpPr>
        <p:spPr>
          <a:xfrm>
            <a:off x="6903720" y="2057400"/>
            <a:ext cx="1600200" cy="658368"/>
          </a:xfrm>
          <a:prstGeom prst="roundRect">
            <a:avLst/>
          </a:prstGeom>
          <a:solidFill>
            <a:srgbClr val="1A9BAA"/>
          </a:solidFill>
          <a:ln w="28575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50" b="1">
                <a:solidFill>
                  <a:srgbClr val="FFFFFF"/>
                </a:solidFill>
                <a:latin typeface="Calibri"/>
              </a:rPr>
              <a:t>linear head
-&gt; token dist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8" name="Node 2008"/>
          <p:cNvSpPr/>
          <p:nvPr/>
        </p:nvSpPr>
        <p:spPr>
          <a:xfrm>
            <a:off x="9144000" y="1325880"/>
            <a:ext cx="2057400" cy="658368"/>
          </a:xfrm>
          <a:prstGeom prst="roundRect">
            <a:avLst/>
          </a:prstGeom>
          <a:solidFill>
            <a:srgbClr val="6B46C1"/>
          </a:solidFill>
          <a:ln w="28575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20" b="1">
                <a:solidFill>
                  <a:srgbClr val="FFFFFF"/>
                </a:solidFill>
                <a:latin typeface="Calibri"/>
              </a:rPr>
              <a:t>Paired D
real-fill vs fake-fill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9" name="Node 2009"/>
          <p:cNvSpPr/>
          <p:nvPr/>
        </p:nvSpPr>
        <p:spPr>
          <a:xfrm>
            <a:off x="9144000" y="2423160"/>
            <a:ext cx="2057400" cy="658368"/>
          </a:xfrm>
          <a:prstGeom prst="roundRect">
            <a:avLst/>
          </a:prstGeom>
          <a:solidFill>
            <a:srgbClr val="C05621"/>
          </a:solidFill>
          <a:ln w="28575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00" b="1">
                <a:solidFill>
                  <a:srgbClr val="FFFFFF"/>
                </a:solidFill>
                <a:latin typeface="Calibri"/>
              </a:rPr>
              <a:t>Evaluator
valid/novel/evasion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10" name="Node 2010"/>
          <p:cNvSpPr/>
          <p:nvPr/>
        </p:nvSpPr>
        <p:spPr>
          <a:xfrm>
            <a:off x="9144000" y="3520440"/>
            <a:ext cx="2057400" cy="658368"/>
          </a:xfrm>
          <a:prstGeom prst="roundRect">
            <a:avLst/>
          </a:prstGeom>
          <a:solidFill>
            <a:srgbClr val="C53030"/>
          </a:solidFill>
          <a:ln w="28575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50" b="1">
                <a:solidFill>
                  <a:srgbClr val="FFFFFF"/>
                </a:solidFill>
                <a:latin typeface="Calibri"/>
              </a:rPr>
              <a:t>Gate result
GAN ~= baseline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2020" name="Arrow 2020"/>
          <p:cNvCxnSpPr/>
          <p:nvPr/>
        </p:nvCxnSpPr>
        <p:spPr>
          <a:xfrm flipV="1">
            <a:off x="2103120" y="1609344"/>
            <a:ext cx="777240" cy="146303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1" name="Arrow 2021"/>
          <p:cNvCxnSpPr/>
          <p:nvPr/>
        </p:nvCxnSpPr>
        <p:spPr>
          <a:xfrm flipV="1">
            <a:off x="2103120" y="2340864"/>
            <a:ext cx="777240" cy="329183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2" name="Arrow 2022"/>
          <p:cNvCxnSpPr/>
          <p:nvPr/>
        </p:nvCxnSpPr>
        <p:spPr>
          <a:xfrm flipV="1">
            <a:off x="2103120" y="3072384"/>
            <a:ext cx="777240" cy="512064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3" name="Arrow 2023"/>
          <p:cNvCxnSpPr/>
          <p:nvPr/>
        </p:nvCxnSpPr>
        <p:spPr>
          <a:xfrm>
            <a:off x="4480560" y="2340864"/>
            <a:ext cx="411479" cy="45719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4" name="Arrow 2024"/>
          <p:cNvCxnSpPr/>
          <p:nvPr/>
        </p:nvCxnSpPr>
        <p:spPr>
          <a:xfrm>
            <a:off x="6492240" y="2386584"/>
            <a:ext cx="411480" cy="1"/>
          </a:xfrm>
          <a:prstGeom prst="straightConnector1">
            <a:avLst/>
          </a:prstGeom>
          <a:ln w="28575">
            <a:solidFill>
              <a:srgbClr val="1A9BAA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5" name="Arrow 2025"/>
          <p:cNvCxnSpPr/>
          <p:nvPr/>
        </p:nvCxnSpPr>
        <p:spPr>
          <a:xfrm flipV="1">
            <a:off x="8503920" y="1645920"/>
            <a:ext cx="640079" cy="740663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6" name="Arrow 2026"/>
          <p:cNvCxnSpPr/>
          <p:nvPr/>
        </p:nvCxnSpPr>
        <p:spPr>
          <a:xfrm>
            <a:off x="8503920" y="2386584"/>
            <a:ext cx="640079" cy="356616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7" name="Arrow 2027"/>
          <p:cNvCxnSpPr/>
          <p:nvPr/>
        </p:nvCxnSpPr>
        <p:spPr>
          <a:xfrm>
            <a:off x="10149840" y="3081528"/>
            <a:ext cx="1" cy="438912"/>
          </a:xfrm>
          <a:prstGeom prst="straightConnector1">
            <a:avLst/>
          </a:prstGeom>
          <a:ln w="28575">
            <a:solidFill>
              <a:srgbClr val="C53030"/>
            </a:solidFill>
            <a:tailEnd type="none"/>
            <a:headEnd type="triangle"/>
          </a:ln>
        </p:spPr>
      </p:cxnSp>
      <p:sp>
        <p:nvSpPr>
          <p:cNvPr id="2028" name="Shape 2028"/>
          <p:cNvSpPr/>
          <p:nvPr/>
        </p:nvSpPr>
        <p:spPr>
          <a:xfrm>
            <a:off x="4434840" y="1463040"/>
            <a:ext cx="12344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G internals</a:t>
            </a:r>
            <a:endParaRPr lang="en-US"/>
          </a:p>
        </p:txBody>
      </p:sp>
      <p:sp>
        <p:nvSpPr>
          <p:cNvPr id="2029" name="Shape 2029"/>
          <p:cNvSpPr/>
          <p:nvPr/>
        </p:nvSpPr>
        <p:spPr>
          <a:xfrm>
            <a:off x="7818120" y="1234440"/>
            <a:ext cx="12344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so real/fake</a:t>
            </a:r>
            <a:endParaRPr lang="en-US"/>
          </a:p>
        </p:txBody>
      </p:sp>
      <p:sp>
        <p:nvSpPr>
          <p:cNvPr id="2030" name="Shape 2030"/>
          <p:cNvSpPr/>
          <p:nvPr/>
        </p:nvSpPr>
        <p:spPr>
          <a:xfrm>
            <a:off x="7818120" y="2907792"/>
            <a:ext cx="12344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C05621"/>
                </a:solidFill>
                <a:latin typeface="Calibri"/>
              </a:rPr>
              <a:t>tách trục đo</a:t>
            </a:r>
            <a:endParaRPr lang="en-US"/>
          </a:p>
        </p:txBody>
      </p:sp>
      <p:sp>
        <p:nvSpPr>
          <p:cNvPr id="2031" name="Shape 2031"/>
          <p:cNvSpPr/>
          <p:nvPr/>
        </p:nvSpPr>
        <p:spPr>
          <a:xfrm>
            <a:off x="777240" y="4572000"/>
            <a:ext cx="4754880" cy="566928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2F855A"/>
                </a:solidFill>
                <a:latin typeface="Calibri"/>
              </a:rPr>
              <a:t>Loss: L = anchor-CE + lambda*adv + entropy</a:t>
            </a:r>
            <a:endParaRPr lang="en-US"/>
          </a:p>
        </p:txBody>
      </p:sp>
      <p:sp>
        <p:nvSpPr>
          <p:cNvPr id="2032" name="Shape 2032"/>
          <p:cNvSpPr/>
          <p:nvPr/>
        </p:nvSpPr>
        <p:spPr>
          <a:xfrm>
            <a:off x="5989320" y="4434840"/>
            <a:ext cx="507492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C53030"/>
                </a:solidFill>
                <a:latin typeface="Calibri"/>
              </a:rPr>
              <a:t>Gate: anchor 0.0050; mutation 0.0000; H5' 0.0000-0.0050
=&gt; adversarial contribution ~= 0; delex oracle AUC ~= 1.0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Zoom 2 - Tương lai 1: GAN-as-Augmentation-Engine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Phòng thủ: dùng GAN để tạo training data khó hơn, đo bằng detector robustness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000" name="Node 3000"/>
          <p:cNvSpPr/>
          <p:nvPr/>
        </p:nvSpPr>
        <p:spPr>
          <a:xfrm>
            <a:off x="594360" y="2103120"/>
            <a:ext cx="1645920" cy="713232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Train gốc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1" name="Node 3001"/>
          <p:cNvSpPr/>
          <p:nvPr/>
        </p:nvSpPr>
        <p:spPr>
          <a:xfrm>
            <a:off x="2743200" y="2103120"/>
            <a:ext cx="1828800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B6CB0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2B6CB0"/>
                </a:solidFill>
                <a:latin typeface="Calibri"/>
              </a:rPr>
              <a:t>GAN sinh
biến thể đa dạng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2" name="Node 3002"/>
          <p:cNvSpPr/>
          <p:nvPr/>
        </p:nvSpPr>
        <p:spPr>
          <a:xfrm>
            <a:off x="5166360" y="2103120"/>
            <a:ext cx="1874519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40" b="1">
                <a:solidFill>
                  <a:srgbClr val="2F855A"/>
                </a:solidFill>
                <a:latin typeface="Calibri"/>
              </a:rPr>
              <a:t>Tập tăng
cường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3" name="Node 3003"/>
          <p:cNvSpPr/>
          <p:nvPr/>
        </p:nvSpPr>
        <p:spPr>
          <a:xfrm>
            <a:off x="7635240" y="2103120"/>
            <a:ext cx="1737360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6B46C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80" b="1">
                <a:solidFill>
                  <a:srgbClr val="6B46C1"/>
                </a:solidFill>
                <a:latin typeface="Calibri"/>
              </a:rPr>
              <a:t>Train
Detector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4" name="Node 3004"/>
          <p:cNvSpPr/>
          <p:nvPr/>
        </p:nvSpPr>
        <p:spPr>
          <a:xfrm>
            <a:off x="9966960" y="2103120"/>
            <a:ext cx="1417320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C0562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00" b="1">
                <a:solidFill>
                  <a:srgbClr val="C05621"/>
                </a:solidFill>
                <a:latin typeface="Calibri"/>
              </a:rPr>
              <a:t>Held-out +
adversarial test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3010" name="Arrow 3010"/>
          <p:cNvCxnSpPr/>
          <p:nvPr/>
        </p:nvCxnSpPr>
        <p:spPr>
          <a:xfrm>
            <a:off x="2240280" y="2459736"/>
            <a:ext cx="502919" cy="1"/>
          </a:xfrm>
          <a:prstGeom prst="straightConnector1">
            <a:avLst/>
          </a:prstGeom>
          <a:ln w="28575">
            <a:solidFill>
              <a:srgbClr val="2B6CB0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3011" name="Arrow 3011"/>
          <p:cNvCxnSpPr/>
          <p:nvPr/>
        </p:nvCxnSpPr>
        <p:spPr>
          <a:xfrm>
            <a:off x="4572000" y="2459736"/>
            <a:ext cx="594360" cy="1"/>
          </a:xfrm>
          <a:prstGeom prst="straightConnector1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3012" name="Arrow 3012"/>
          <p:cNvCxnSpPr/>
          <p:nvPr/>
        </p:nvCxnSpPr>
        <p:spPr>
          <a:xfrm>
            <a:off x="7040880" y="2459736"/>
            <a:ext cx="594359" cy="1"/>
          </a:xfrm>
          <a:prstGeom prst="straightConnector1">
            <a:avLst/>
          </a:prstGeom>
          <a:ln w="28575">
            <a:solidFill>
              <a:srgbClr val="6B46C1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3013" name="Arrow 3013"/>
          <p:cNvCxnSpPr/>
          <p:nvPr/>
        </p:nvCxnSpPr>
        <p:spPr>
          <a:xfrm>
            <a:off x="9372600" y="2459736"/>
            <a:ext cx="594360" cy="1"/>
          </a:xfrm>
          <a:prstGeom prst="straightConnector1">
            <a:avLst/>
          </a:prstGeom>
          <a:ln w="28575">
            <a:solidFill>
              <a:srgbClr val="C05621"/>
            </a:solidFill>
            <a:prstDash val="dash"/>
            <a:tailEnd type="none"/>
            <a:headEnd type="triangle"/>
          </a:ln>
        </p:spPr>
      </p:cxnSp>
      <p:sp>
        <p:nvSpPr>
          <p:cNvPr id="3014" name="Shape 3014"/>
          <p:cNvSpPr/>
          <p:nvPr/>
        </p:nvSpPr>
        <p:spPr>
          <a:xfrm>
            <a:off x="2331720" y="1691640"/>
            <a:ext cx="9144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augment</a:t>
            </a:r>
            <a:endParaRPr lang="en-US"/>
          </a:p>
        </p:txBody>
      </p:sp>
      <p:sp>
        <p:nvSpPr>
          <p:cNvPr id="3015" name="Shape 3015"/>
          <p:cNvSpPr/>
          <p:nvPr/>
        </p:nvSpPr>
        <p:spPr>
          <a:xfrm>
            <a:off x="4572000" y="1691640"/>
            <a:ext cx="9144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gắn nhãn</a:t>
            </a:r>
            <a:endParaRPr lang="en-US"/>
          </a:p>
        </p:txBody>
      </p:sp>
      <p:sp>
        <p:nvSpPr>
          <p:cNvPr id="3016" name="Shape 3016"/>
          <p:cNvSpPr/>
          <p:nvPr/>
        </p:nvSpPr>
        <p:spPr>
          <a:xfrm>
            <a:off x="7086600" y="1691640"/>
            <a:ext cx="13258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học robust hơn</a:t>
            </a:r>
            <a:endParaRPr lang="en-US"/>
          </a:p>
        </p:txBody>
      </p:sp>
      <p:sp>
        <p:nvSpPr>
          <p:cNvPr id="3017" name="Text 3017"/>
          <p:cNvSpPr txBox="1"/>
          <p:nvPr/>
        </p:nvSpPr>
        <p:spPr>
          <a:xfrm>
            <a:off x="914400" y="38862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So sánh: D0 no aug | D1 mutation aug | D2 GAN aug | D3 mutation + GAN</a:t>
            </a:r>
            <a:endParaRPr lang="en-US"/>
          </a:p>
        </p:txBody>
      </p:sp>
      <p:sp>
        <p:nvSpPr>
          <p:cNvPr id="3018" name="Shape 3018"/>
          <p:cNvSpPr/>
          <p:nvPr/>
        </p:nvSpPr>
        <p:spPr>
          <a:xfrm>
            <a:off x="1371600" y="4617720"/>
            <a:ext cx="9052560" cy="5486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2F855A"/>
                </a:solidFill>
                <a:latin typeface="Calibri"/>
              </a:rPr>
              <a:t>Metrics: recall | F1 | FPR benign | robustness delta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Zoom 3 - Tương lai 2: GAN-as-Real-Space Policy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Tấn công thật: reward từ WAF/libinjection quay về policy G trong vòng kín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000" name="Node 4000"/>
          <p:cNvSpPr/>
          <p:nvPr/>
        </p:nvSpPr>
        <p:spPr>
          <a:xfrm>
            <a:off x="365760" y="1920240"/>
            <a:ext cx="1417320" cy="65836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Delex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1" name="Node 4001"/>
          <p:cNvSpPr/>
          <p:nvPr/>
        </p:nvSpPr>
        <p:spPr>
          <a:xfrm>
            <a:off x="2148840" y="1920240"/>
            <a:ext cx="160020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1A9BA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20" b="1">
                <a:solidFill>
                  <a:srgbClr val="1A9BAA"/>
                </a:solidFill>
                <a:latin typeface="Calibri"/>
              </a:rPr>
              <a:t>Rehydrate
literal/case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2" name="Node 4002"/>
          <p:cNvSpPr/>
          <p:nvPr/>
        </p:nvSpPr>
        <p:spPr>
          <a:xfrm>
            <a:off x="4160520" y="1920240"/>
            <a:ext cx="178308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B6CB0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80" b="1">
                <a:solidFill>
                  <a:srgbClr val="2B6CB0"/>
                </a:solidFill>
                <a:latin typeface="Calibri"/>
              </a:rPr>
              <a:t>Policy G
chọn action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3" name="Node 4003"/>
          <p:cNvSpPr/>
          <p:nvPr/>
        </p:nvSpPr>
        <p:spPr>
          <a:xfrm>
            <a:off x="6355080" y="1920240"/>
            <a:ext cx="160020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1A9BA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1A9BAA"/>
                </a:solidFill>
                <a:latin typeface="Calibri"/>
              </a:rPr>
              <a:t>Apply
mutation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4" name="Node 4004"/>
          <p:cNvSpPr/>
          <p:nvPr/>
        </p:nvSpPr>
        <p:spPr>
          <a:xfrm>
            <a:off x="8321040" y="1920240"/>
            <a:ext cx="160020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C0562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20" b="1">
                <a:solidFill>
                  <a:srgbClr val="C05621"/>
                </a:solidFill>
                <a:latin typeface="Calibri"/>
              </a:rPr>
              <a:t>Real WAF /
libinjection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5" name="Node 4005"/>
          <p:cNvSpPr/>
          <p:nvPr/>
        </p:nvSpPr>
        <p:spPr>
          <a:xfrm>
            <a:off x="10287000" y="1920240"/>
            <a:ext cx="109728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2F855A"/>
                </a:solidFill>
                <a:latin typeface="Calibri"/>
              </a:rPr>
              <a:t>Reward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4010" name="Arrow 4010"/>
          <p:cNvCxnSpPr/>
          <p:nvPr/>
        </p:nvCxnSpPr>
        <p:spPr>
          <a:xfrm>
            <a:off x="1783080" y="2249424"/>
            <a:ext cx="365760" cy="1"/>
          </a:xfrm>
          <a:prstGeom prst="straightConnector1">
            <a:avLst/>
          </a:prstGeom>
          <a:ln w="28575">
            <a:solidFill>
              <a:srgbClr val="1A9BA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1" name="Arrow 4011"/>
          <p:cNvCxnSpPr/>
          <p:nvPr/>
        </p:nvCxnSpPr>
        <p:spPr>
          <a:xfrm>
            <a:off x="3749039" y="2249424"/>
            <a:ext cx="411480" cy="1"/>
          </a:xfrm>
          <a:prstGeom prst="straightConnector1">
            <a:avLst/>
          </a:prstGeom>
          <a:ln w="28575">
            <a:solidFill>
              <a:srgbClr val="2B6CB0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2" name="Arrow 4012"/>
          <p:cNvCxnSpPr/>
          <p:nvPr/>
        </p:nvCxnSpPr>
        <p:spPr>
          <a:xfrm>
            <a:off x="5943600" y="2249424"/>
            <a:ext cx="411480" cy="1"/>
          </a:xfrm>
          <a:prstGeom prst="straightConnector1">
            <a:avLst/>
          </a:prstGeom>
          <a:ln w="28575">
            <a:solidFill>
              <a:srgbClr val="1A9BA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3" name="Arrow 4013"/>
          <p:cNvCxnSpPr/>
          <p:nvPr/>
        </p:nvCxnSpPr>
        <p:spPr>
          <a:xfrm>
            <a:off x="7955279" y="2249424"/>
            <a:ext cx="365760" cy="1"/>
          </a:xfrm>
          <a:prstGeom prst="straightConnector1">
            <a:avLst/>
          </a:prstGeom>
          <a:ln w="28575">
            <a:solidFill>
              <a:srgbClr val="C05621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4" name="Arrow 4014"/>
          <p:cNvCxnSpPr/>
          <p:nvPr/>
        </p:nvCxnSpPr>
        <p:spPr>
          <a:xfrm>
            <a:off x="9921240" y="2249424"/>
            <a:ext cx="365760" cy="1"/>
          </a:xfrm>
          <a:prstGeom prst="straightConnector1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5" name="Elbow 4015"/>
          <p:cNvCxnSpPr/>
          <p:nvPr/>
        </p:nvCxnSpPr>
        <p:spPr>
          <a:xfrm flipH="1">
            <a:off x="5029200" y="2578608"/>
            <a:ext cx="5806440" cy="1719072"/>
          </a:xfrm>
          <a:prstGeom prst="bentConnector3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sp xmlns:a="http://schemas.openxmlformats.org/drawingml/2006/main" xmlns:p="http://schemas.openxmlformats.org/presentationml/2006/main">
        <p:nvSpPr>
          <p:cNvPr id="4016" name="Node 4016"/>
          <p:cNvSpPr/>
          <p:nvPr/>
        </p:nvSpPr>
        <p:spPr>
          <a:xfrm>
            <a:off x="3886200" y="4069080"/>
            <a:ext cx="2331720" cy="53035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2F855A"/>
                </a:solidFill>
                <a:latin typeface="Calibri"/>
              </a:rPr>
              <a:t>policy update / rerank</a:t>
            </a:r>
            <a:endParaRPr lang="vi-VN"/>
          </a:p>
        </p:txBody>
      </p:sp>
      <p:sp>
        <p:nvSpPr>
          <p:cNvPr id="4017" name="Shape 4017"/>
          <p:cNvSpPr/>
          <p:nvPr/>
        </p:nvSpPr>
        <p:spPr>
          <a:xfrm>
            <a:off x="1920240" y="1444752"/>
            <a:ext cx="150876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1A9BAA"/>
                </a:solidFill>
                <a:latin typeface="Calibri"/>
              </a:rPr>
              <a:t>khôi phục surface</a:t>
            </a:r>
            <a:endParaRPr lang="en-US"/>
          </a:p>
        </p:txBody>
      </p:sp>
      <p:sp>
        <p:nvSpPr>
          <p:cNvPr id="4018" name="Shape 4018"/>
          <p:cNvSpPr/>
          <p:nvPr/>
        </p:nvSpPr>
        <p:spPr>
          <a:xfrm>
            <a:off x="3977639" y="1444752"/>
            <a:ext cx="24688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comment/case/operator/encode/space</a:t>
            </a:r>
            <a:endParaRPr lang="en-US"/>
          </a:p>
        </p:txBody>
      </p:sp>
      <p:sp>
        <p:nvSpPr>
          <p:cNvPr id="4019" name="Shape 4019"/>
          <p:cNvSpPr/>
          <p:nvPr/>
        </p:nvSpPr>
        <p:spPr>
          <a:xfrm>
            <a:off x="8275320" y="1444752"/>
            <a:ext cx="164592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C05621"/>
                </a:solidFill>
                <a:latin typeface="Calibri"/>
              </a:rPr>
              <a:t>validity + evasion</a:t>
            </a:r>
            <a:endParaRPr lang="en-US"/>
          </a:p>
        </p:txBody>
      </p:sp>
      <p:sp>
        <p:nvSpPr>
          <p:cNvPr id="4020" name="Shape 4020"/>
          <p:cNvSpPr/>
          <p:nvPr/>
        </p:nvSpPr>
        <p:spPr>
          <a:xfrm>
            <a:off x="6995160" y="4160520"/>
            <a:ext cx="141732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reward feedback</a:t>
            </a:r>
            <a:endParaRPr lang="en-US"/>
          </a:p>
        </p:txBody>
      </p:sp>
      <p:sp>
        <p:nvSpPr>
          <p:cNvPr id="4021" name="Shape 4021"/>
          <p:cNvSpPr/>
          <p:nvPr/>
        </p:nvSpPr>
        <p:spPr>
          <a:xfrm>
            <a:off x="914400" y="4892040"/>
            <a:ext cx="10058400" cy="43891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2F855A"/>
                </a:solidFill>
                <a:latin typeface="Calibri"/>
              </a:rPr>
              <a:t>Reward rule: valid + giữ intent + không bị detect = cao; invalid = âm; bị detect = thấp.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N_SQLi Theme">
  <a:themeElements>
    <a:clrScheme name="Custom">
      <a:dk1>
        <a:srgbClr val="111827"/>
      </a:dk1>
      <a:lt1>
        <a:srgbClr val="FFFFFF"/>
      </a:lt1>
      <a:dk2>
        <a:srgbClr val="153A5B"/>
      </a:dk2>
      <a:lt2>
        <a:srgbClr val="EDF2F7"/>
      </a:lt2>
      <a:accent1>
        <a:srgbClr val="2B6CB0"/>
      </a:accent1>
      <a:accent2>
        <a:srgbClr val="2F855A"/>
      </a:accent2>
      <a:accent3>
        <a:srgbClr val="C05621"/>
      </a:accent3>
      <a:accent4>
        <a:srgbClr val="6B46C1"/>
      </a:accent4>
      <a:accent5>
        <a:srgbClr val="1A9BAA"/>
      </a:accent5>
      <a:accent6>
        <a:srgbClr val="C53030"/>
      </a:accent6>
      <a:hlink>
        <a:srgbClr val="2B6CB0"/>
      </a:hlink>
      <a:folHlink>
        <a:srgbClr val="6B46C1"/>
      </a:folHlink>
    </a:clrScheme>
    <a:fontScheme name="Calibri">
      <a:majorFont>
        <a:latin typeface="Calibri"/>
      </a:majorFont>
      <a:minorFont>
        <a:latin typeface="Calibri"/>
      </a:minorFont>
    </a:fontScheme>
    <a:fmtScheme name="Simple">
      <a:fillStyleLst/>
      <a:lnStyleLst/>
      <a:effectStyleLst/>
      <a:bgFillStyleLst/>
    </a:fmtScheme>
  </a:themeElements>
</a:theme>
</file>